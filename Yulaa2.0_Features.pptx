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943600" cy="822960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0" y="3931920"/>
            <a:ext cx="86868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5029200" cy="1371600"/>
          </a:xfrm>
          <a:prstGeom prst="rect">
            <a:avLst/>
          </a:prstGeom>
          <a:noFill/>
        </p:spPr>
        <p:txBody>
          <a:bodyPr wrap="square">
            <a:spAutoFit/>
          </a:bodyPr>
          <a:lstStyle/>
          <a:p>
            <a:pPr algn="l"/>
            <a:r>
              <a:rPr sz="8000" b="1" i="0">
                <a:solidFill>
                  <a:srgbClr val="FFFFFF"/>
                </a:solidFill>
                <a:latin typeface="Segoe UI"/>
              </a:rPr>
              <a:t>Yulaa</a:t>
            </a:r>
          </a:p>
        </p:txBody>
      </p:sp>
      <p:sp>
        <p:nvSpPr>
          <p:cNvPr id="6" name="TextBox 5"/>
          <p:cNvSpPr txBox="1"/>
          <p:nvPr/>
        </p:nvSpPr>
        <p:spPr>
          <a:xfrm>
            <a:off x="457200" y="2286000"/>
            <a:ext cx="5029200" cy="914400"/>
          </a:xfrm>
          <a:prstGeom prst="rect">
            <a:avLst/>
          </a:prstGeom>
          <a:noFill/>
        </p:spPr>
        <p:txBody>
          <a:bodyPr wrap="square">
            <a:spAutoFit/>
          </a:bodyPr>
          <a:lstStyle/>
          <a:p>
            <a:pPr algn="l"/>
            <a:r>
              <a:rPr sz="6000" b="1" i="0">
                <a:solidFill>
                  <a:srgbClr val="FF6B35"/>
                </a:solidFill>
                <a:latin typeface="Segoe UI"/>
              </a:rPr>
              <a:t>2.0</a:t>
            </a:r>
          </a:p>
        </p:txBody>
      </p:sp>
      <p:sp>
        <p:nvSpPr>
          <p:cNvPr id="7" name="TextBox 6"/>
          <p:cNvSpPr txBox="1"/>
          <p:nvPr/>
        </p:nvSpPr>
        <p:spPr>
          <a:xfrm>
            <a:off x="457200" y="3291840"/>
            <a:ext cx="5212080" cy="640080"/>
          </a:xfrm>
          <a:prstGeom prst="rect">
            <a:avLst/>
          </a:prstGeom>
          <a:noFill/>
        </p:spPr>
        <p:txBody>
          <a:bodyPr wrap="square">
            <a:spAutoFit/>
          </a:bodyPr>
          <a:lstStyle/>
          <a:p>
            <a:pPr algn="l"/>
            <a:r>
              <a:rPr sz="1500" b="0" i="1">
                <a:solidFill>
                  <a:srgbClr val="BFD7FF"/>
                </a:solidFill>
                <a:latin typeface="Segoe UI"/>
              </a:rPr>
              <a:t>Smart School Management Platform</a:t>
            </a:r>
          </a:p>
        </p:txBody>
      </p:sp>
      <p:sp>
        <p:nvSpPr>
          <p:cNvPr id="8" name="TextBox 7"/>
          <p:cNvSpPr txBox="1"/>
          <p:nvPr/>
        </p:nvSpPr>
        <p:spPr>
          <a:xfrm>
            <a:off x="6400800" y="1371600"/>
            <a:ext cx="7772400" cy="822960"/>
          </a:xfrm>
          <a:prstGeom prst="rect">
            <a:avLst/>
          </a:prstGeom>
          <a:noFill/>
        </p:spPr>
        <p:txBody>
          <a:bodyPr wrap="square">
            <a:spAutoFit/>
          </a:bodyPr>
          <a:lstStyle/>
          <a:p>
            <a:pPr algn="l"/>
            <a:r>
              <a:rPr sz="3200" b="1" i="0">
                <a:solidFill>
                  <a:srgbClr val="FFFFFF"/>
                </a:solidFill>
                <a:latin typeface="Segoe UI"/>
              </a:rPr>
              <a:t>Complete Feature Guide</a:t>
            </a:r>
          </a:p>
        </p:txBody>
      </p:sp>
      <p:sp>
        <p:nvSpPr>
          <p:cNvPr id="9" name="TextBox 8"/>
          <p:cNvSpPr txBox="1"/>
          <p:nvPr/>
        </p:nvSpPr>
        <p:spPr>
          <a:xfrm>
            <a:off x="6400800" y="2468880"/>
            <a:ext cx="7772400" cy="1828800"/>
          </a:xfrm>
          <a:prstGeom prst="rect">
            <a:avLst/>
          </a:prstGeom>
          <a:noFill/>
        </p:spPr>
        <p:txBody>
          <a:bodyPr wrap="square">
            <a:spAutoFit/>
          </a:bodyPr>
          <a:lstStyle/>
          <a:p>
            <a:pPr algn="l"/>
            <a:r>
              <a:rPr sz="1500" b="0" i="0">
                <a:solidFill>
                  <a:srgbClr val="A0B4D0"/>
                </a:solidFill>
                <a:latin typeface="Segoe UI"/>
              </a:rPr>
              <a:t>Everything a modern school needs — students, teachers, fees, attendance,
transport, online classes, exams, and more — in one unified platform.</a:t>
            </a:r>
          </a:p>
        </p:txBody>
      </p:sp>
      <p:sp>
        <p:nvSpPr>
          <p:cNvPr id="10" name="Rectangle 9"/>
          <p:cNvSpPr/>
          <p:nvPr/>
        </p:nvSpPr>
        <p:spPr>
          <a:xfrm>
            <a:off x="6400800" y="4572000"/>
            <a:ext cx="2377440" cy="50292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572000"/>
            <a:ext cx="2377440" cy="502920"/>
          </a:xfrm>
          <a:prstGeom prst="rect">
            <a:avLst/>
          </a:prstGeom>
          <a:noFill/>
        </p:spPr>
        <p:txBody>
          <a:bodyPr wrap="square">
            <a:spAutoFit/>
          </a:bodyPr>
          <a:lstStyle/>
          <a:p>
            <a:pPr algn="ctr"/>
            <a:r>
              <a:rPr sz="1300" b="1" i="0">
                <a:solidFill>
                  <a:srgbClr val="FFFFFF"/>
                </a:solidFill>
                <a:latin typeface="Segoe UI"/>
              </a:rPr>
              <a:t>Web Dashboard</a:t>
            </a:r>
          </a:p>
        </p:txBody>
      </p:sp>
      <p:sp>
        <p:nvSpPr>
          <p:cNvPr id="12" name="Rectangle 11"/>
          <p:cNvSpPr/>
          <p:nvPr/>
        </p:nvSpPr>
        <p:spPr>
          <a:xfrm>
            <a:off x="9052560" y="4572000"/>
            <a:ext cx="237744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4572000"/>
            <a:ext cx="2377440" cy="502920"/>
          </a:xfrm>
          <a:prstGeom prst="rect">
            <a:avLst/>
          </a:prstGeom>
          <a:noFill/>
        </p:spPr>
        <p:txBody>
          <a:bodyPr wrap="square">
            <a:spAutoFit/>
          </a:bodyPr>
          <a:lstStyle/>
          <a:p>
            <a:pPr algn="ctr"/>
            <a:r>
              <a:rPr sz="1300" b="1" i="0">
                <a:solidFill>
                  <a:srgbClr val="FFFFFF"/>
                </a:solidFill>
                <a:latin typeface="Segoe UI"/>
              </a:rPr>
              <a:t>Mobile App</a:t>
            </a:r>
          </a:p>
        </p:txBody>
      </p:sp>
      <p:sp>
        <p:nvSpPr>
          <p:cNvPr id="14" name="Rectangle 13"/>
          <p:cNvSpPr/>
          <p:nvPr/>
        </p:nvSpPr>
        <p:spPr>
          <a:xfrm>
            <a:off x="11704320" y="4572000"/>
            <a:ext cx="237744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0" y="4572000"/>
            <a:ext cx="2377440" cy="502920"/>
          </a:xfrm>
          <a:prstGeom prst="rect">
            <a:avLst/>
          </a:prstGeom>
          <a:noFill/>
        </p:spPr>
        <p:txBody>
          <a:bodyPr wrap="square">
            <a:spAutoFit/>
          </a:bodyPr>
          <a:lstStyle/>
          <a:p>
            <a:pPr algn="ctr"/>
            <a:r>
              <a:rPr sz="1300" b="1" i="0">
                <a:solidFill>
                  <a:srgbClr val="FFFFFF"/>
                </a:solidFill>
                <a:latin typeface="Segoe UI"/>
              </a:rPr>
              <a:t>Marketing Site</a:t>
            </a:r>
          </a:p>
        </p:txBody>
      </p:sp>
      <p:sp>
        <p:nvSpPr>
          <p:cNvPr id="16" name="TextBox 15"/>
          <p:cNvSpPr txBox="1"/>
          <p:nvPr/>
        </p:nvSpPr>
        <p:spPr>
          <a:xfrm>
            <a:off x="6400800" y="6217920"/>
            <a:ext cx="7772400" cy="365760"/>
          </a:xfrm>
          <a:prstGeom prst="rect">
            <a:avLst/>
          </a:prstGeom>
          <a:noFill/>
        </p:spPr>
        <p:txBody>
          <a:bodyPr wrap="square">
            <a:spAutoFit/>
          </a:bodyPr>
          <a:lstStyle/>
          <a:p>
            <a:pPr algn="l"/>
            <a:r>
              <a:rPr sz="1100" b="0" i="0">
                <a:solidFill>
                  <a:srgbClr val="64748B"/>
                </a:solidFill>
                <a:latin typeface="Segoe UI"/>
              </a:rPr>
              <a:t>Powered by Next.js 14 · PostgreSQL · React Native · Turbo Monorepo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00" cy="100584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3716000" cy="640080"/>
          </a:xfrm>
          <a:prstGeom prst="rect">
            <a:avLst/>
          </a:prstGeom>
          <a:noFill/>
        </p:spPr>
        <p:txBody>
          <a:bodyPr wrap="square">
            <a:spAutoFit/>
          </a:bodyPr>
          <a:lstStyle/>
          <a:p>
            <a:pPr algn="l"/>
            <a:r>
              <a:rPr sz="2400" b="1" i="0">
                <a:solidFill>
                  <a:srgbClr val="FFFFFF"/>
                </a:solidFill>
                <a:latin typeface="Segoe UI"/>
              </a:rPr>
              <a:t>Platform Overview – 25+ Modules at a Glance</a:t>
            </a:r>
          </a:p>
        </p:txBody>
      </p:sp>
      <p:sp>
        <p:nvSpPr>
          <p:cNvPr id="5" name="Rectangle 4"/>
          <p:cNvSpPr/>
          <p:nvPr/>
        </p:nvSpPr>
        <p:spPr>
          <a:xfrm>
            <a:off x="45720" y="10972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 y="11704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7" name="TextBox 6"/>
          <p:cNvSpPr txBox="1"/>
          <p:nvPr/>
        </p:nvSpPr>
        <p:spPr>
          <a:xfrm>
            <a:off x="685800" y="1188720"/>
            <a:ext cx="2103120" cy="365760"/>
          </a:xfrm>
          <a:prstGeom prst="rect">
            <a:avLst/>
          </a:prstGeom>
          <a:noFill/>
        </p:spPr>
        <p:txBody>
          <a:bodyPr wrap="square">
            <a:spAutoFit/>
          </a:bodyPr>
          <a:lstStyle/>
          <a:p>
            <a:pPr algn="l"/>
            <a:r>
              <a:rPr sz="1300" b="1" i="0">
                <a:solidFill>
                  <a:srgbClr val="0F172A"/>
                </a:solidFill>
                <a:latin typeface="Segoe UI"/>
              </a:rPr>
              <a:t>Schools</a:t>
            </a:r>
          </a:p>
        </p:txBody>
      </p:sp>
      <p:sp>
        <p:nvSpPr>
          <p:cNvPr id="8" name="TextBox 7"/>
          <p:cNvSpPr txBox="1"/>
          <p:nvPr/>
        </p:nvSpPr>
        <p:spPr>
          <a:xfrm>
            <a:off x="685800" y="1600200"/>
            <a:ext cx="2103120" cy="365760"/>
          </a:xfrm>
          <a:prstGeom prst="rect">
            <a:avLst/>
          </a:prstGeom>
          <a:noFill/>
        </p:spPr>
        <p:txBody>
          <a:bodyPr wrap="square">
            <a:spAutoFit/>
          </a:bodyPr>
          <a:lstStyle/>
          <a:p>
            <a:pPr algn="l"/>
            <a:r>
              <a:rPr sz="1100" b="0" i="0">
                <a:solidFill>
                  <a:srgbClr val="64748B"/>
                </a:solidFill>
                <a:latin typeface="Segoe UI"/>
              </a:rPr>
              <a:t>Multi-school SaaS</a:t>
            </a:r>
          </a:p>
        </p:txBody>
      </p:sp>
      <p:sp>
        <p:nvSpPr>
          <p:cNvPr id="9" name="Rectangle 8"/>
          <p:cNvSpPr/>
          <p:nvPr/>
        </p:nvSpPr>
        <p:spPr>
          <a:xfrm>
            <a:off x="2880360" y="10972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1704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11" name="TextBox 10"/>
          <p:cNvSpPr txBox="1"/>
          <p:nvPr/>
        </p:nvSpPr>
        <p:spPr>
          <a:xfrm>
            <a:off x="3520439" y="1188720"/>
            <a:ext cx="2103120" cy="365760"/>
          </a:xfrm>
          <a:prstGeom prst="rect">
            <a:avLst/>
          </a:prstGeom>
          <a:noFill/>
        </p:spPr>
        <p:txBody>
          <a:bodyPr wrap="square">
            <a:spAutoFit/>
          </a:bodyPr>
          <a:lstStyle/>
          <a:p>
            <a:pPr algn="l"/>
            <a:r>
              <a:rPr sz="1300" b="1" i="0">
                <a:solidFill>
                  <a:srgbClr val="0F172A"/>
                </a:solidFill>
                <a:latin typeface="Segoe UI"/>
              </a:rPr>
              <a:t>Students</a:t>
            </a:r>
          </a:p>
        </p:txBody>
      </p:sp>
      <p:sp>
        <p:nvSpPr>
          <p:cNvPr id="12" name="TextBox 11"/>
          <p:cNvSpPr txBox="1"/>
          <p:nvPr/>
        </p:nvSpPr>
        <p:spPr>
          <a:xfrm>
            <a:off x="3520439" y="1600200"/>
            <a:ext cx="2103120" cy="365760"/>
          </a:xfrm>
          <a:prstGeom prst="rect">
            <a:avLst/>
          </a:prstGeom>
          <a:noFill/>
        </p:spPr>
        <p:txBody>
          <a:bodyPr wrap="square">
            <a:spAutoFit/>
          </a:bodyPr>
          <a:lstStyle/>
          <a:p>
            <a:pPr algn="l"/>
            <a:r>
              <a:rPr sz="1100" b="0" i="0">
                <a:solidFill>
                  <a:srgbClr val="64748B"/>
                </a:solidFill>
                <a:latin typeface="Segoe UI"/>
              </a:rPr>
              <a:t>Enrol &amp; manage</a:t>
            </a:r>
          </a:p>
        </p:txBody>
      </p:sp>
      <p:sp>
        <p:nvSpPr>
          <p:cNvPr id="13" name="Rectangle 12"/>
          <p:cNvSpPr/>
          <p:nvPr/>
        </p:nvSpPr>
        <p:spPr>
          <a:xfrm>
            <a:off x="5715000" y="10972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11704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15" name="TextBox 14"/>
          <p:cNvSpPr txBox="1"/>
          <p:nvPr/>
        </p:nvSpPr>
        <p:spPr>
          <a:xfrm>
            <a:off x="6355080" y="1188720"/>
            <a:ext cx="2103120" cy="365760"/>
          </a:xfrm>
          <a:prstGeom prst="rect">
            <a:avLst/>
          </a:prstGeom>
          <a:noFill/>
        </p:spPr>
        <p:txBody>
          <a:bodyPr wrap="square">
            <a:spAutoFit/>
          </a:bodyPr>
          <a:lstStyle/>
          <a:p>
            <a:pPr algn="l"/>
            <a:r>
              <a:rPr sz="1300" b="1" i="0">
                <a:solidFill>
                  <a:srgbClr val="0F172A"/>
                </a:solidFill>
                <a:latin typeface="Segoe UI"/>
              </a:rPr>
              <a:t>Teachers</a:t>
            </a:r>
          </a:p>
        </p:txBody>
      </p:sp>
      <p:sp>
        <p:nvSpPr>
          <p:cNvPr id="16" name="TextBox 15"/>
          <p:cNvSpPr txBox="1"/>
          <p:nvPr/>
        </p:nvSpPr>
        <p:spPr>
          <a:xfrm>
            <a:off x="6355080" y="1600200"/>
            <a:ext cx="2103120" cy="365760"/>
          </a:xfrm>
          <a:prstGeom prst="rect">
            <a:avLst/>
          </a:prstGeom>
          <a:noFill/>
        </p:spPr>
        <p:txBody>
          <a:bodyPr wrap="square">
            <a:spAutoFit/>
          </a:bodyPr>
          <a:lstStyle/>
          <a:p>
            <a:pPr algn="l"/>
            <a:r>
              <a:rPr sz="1100" b="0" i="0">
                <a:solidFill>
                  <a:srgbClr val="64748B"/>
                </a:solidFill>
                <a:latin typeface="Segoe UI"/>
              </a:rPr>
              <a:t>Staff directory</a:t>
            </a:r>
          </a:p>
        </p:txBody>
      </p:sp>
      <p:sp>
        <p:nvSpPr>
          <p:cNvPr id="17" name="Rectangle 16"/>
          <p:cNvSpPr/>
          <p:nvPr/>
        </p:nvSpPr>
        <p:spPr>
          <a:xfrm>
            <a:off x="8549640" y="10972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11704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19" name="TextBox 18"/>
          <p:cNvSpPr txBox="1"/>
          <p:nvPr/>
        </p:nvSpPr>
        <p:spPr>
          <a:xfrm>
            <a:off x="9189720" y="1188720"/>
            <a:ext cx="2103120" cy="365760"/>
          </a:xfrm>
          <a:prstGeom prst="rect">
            <a:avLst/>
          </a:prstGeom>
          <a:noFill/>
        </p:spPr>
        <p:txBody>
          <a:bodyPr wrap="square">
            <a:spAutoFit/>
          </a:bodyPr>
          <a:lstStyle/>
          <a:p>
            <a:pPr algn="l"/>
            <a:r>
              <a:rPr sz="1300" b="1" i="0">
                <a:solidFill>
                  <a:srgbClr val="0F172A"/>
                </a:solidFill>
                <a:latin typeface="Segoe UI"/>
              </a:rPr>
              <a:t>Parents</a:t>
            </a:r>
          </a:p>
        </p:txBody>
      </p:sp>
      <p:sp>
        <p:nvSpPr>
          <p:cNvPr id="20" name="TextBox 19"/>
          <p:cNvSpPr txBox="1"/>
          <p:nvPr/>
        </p:nvSpPr>
        <p:spPr>
          <a:xfrm>
            <a:off x="9189720" y="1600200"/>
            <a:ext cx="2103120" cy="365760"/>
          </a:xfrm>
          <a:prstGeom prst="rect">
            <a:avLst/>
          </a:prstGeom>
          <a:noFill/>
        </p:spPr>
        <p:txBody>
          <a:bodyPr wrap="square">
            <a:spAutoFit/>
          </a:bodyPr>
          <a:lstStyle/>
          <a:p>
            <a:pPr algn="l"/>
            <a:r>
              <a:rPr sz="1100" b="0" i="0">
                <a:solidFill>
                  <a:srgbClr val="64748B"/>
                </a:solidFill>
                <a:latin typeface="Segoe UI"/>
              </a:rPr>
              <a:t>Child tracking</a:t>
            </a:r>
          </a:p>
        </p:txBody>
      </p:sp>
      <p:sp>
        <p:nvSpPr>
          <p:cNvPr id="21" name="Rectangle 20"/>
          <p:cNvSpPr/>
          <p:nvPr/>
        </p:nvSpPr>
        <p:spPr>
          <a:xfrm>
            <a:off x="11384280" y="10972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75720" y="11704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23" name="TextBox 22"/>
          <p:cNvSpPr txBox="1"/>
          <p:nvPr/>
        </p:nvSpPr>
        <p:spPr>
          <a:xfrm>
            <a:off x="12024360" y="1188720"/>
            <a:ext cx="2103120" cy="365760"/>
          </a:xfrm>
          <a:prstGeom prst="rect">
            <a:avLst/>
          </a:prstGeom>
          <a:noFill/>
        </p:spPr>
        <p:txBody>
          <a:bodyPr wrap="square">
            <a:spAutoFit/>
          </a:bodyPr>
          <a:lstStyle/>
          <a:p>
            <a:pPr algn="l"/>
            <a:r>
              <a:rPr sz="1300" b="1" i="0">
                <a:solidFill>
                  <a:srgbClr val="0F172A"/>
                </a:solidFill>
                <a:latin typeface="Segoe UI"/>
              </a:rPr>
              <a:t>Attendance</a:t>
            </a:r>
          </a:p>
        </p:txBody>
      </p:sp>
      <p:sp>
        <p:nvSpPr>
          <p:cNvPr id="24" name="TextBox 23"/>
          <p:cNvSpPr txBox="1"/>
          <p:nvPr/>
        </p:nvSpPr>
        <p:spPr>
          <a:xfrm>
            <a:off x="12024360" y="1600200"/>
            <a:ext cx="2103120" cy="365760"/>
          </a:xfrm>
          <a:prstGeom prst="rect">
            <a:avLst/>
          </a:prstGeom>
          <a:noFill/>
        </p:spPr>
        <p:txBody>
          <a:bodyPr wrap="square">
            <a:spAutoFit/>
          </a:bodyPr>
          <a:lstStyle/>
          <a:p>
            <a:pPr algn="l"/>
            <a:r>
              <a:rPr sz="1100" b="0" i="0">
                <a:solidFill>
                  <a:srgbClr val="64748B"/>
                </a:solidFill>
                <a:latin typeface="Segoe UI"/>
              </a:rPr>
              <a:t>Daily &amp; monthly</a:t>
            </a:r>
          </a:p>
        </p:txBody>
      </p:sp>
      <p:sp>
        <p:nvSpPr>
          <p:cNvPr id="25" name="Rectangle 24"/>
          <p:cNvSpPr/>
          <p:nvPr/>
        </p:nvSpPr>
        <p:spPr>
          <a:xfrm>
            <a:off x="45720" y="24688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160" y="25420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27" name="TextBox 26"/>
          <p:cNvSpPr txBox="1"/>
          <p:nvPr/>
        </p:nvSpPr>
        <p:spPr>
          <a:xfrm>
            <a:off x="685800" y="2560320"/>
            <a:ext cx="2103120" cy="365760"/>
          </a:xfrm>
          <a:prstGeom prst="rect">
            <a:avLst/>
          </a:prstGeom>
          <a:noFill/>
        </p:spPr>
        <p:txBody>
          <a:bodyPr wrap="square">
            <a:spAutoFit/>
          </a:bodyPr>
          <a:lstStyle/>
          <a:p>
            <a:pPr algn="l"/>
            <a:r>
              <a:rPr sz="1300" b="1" i="0">
                <a:solidFill>
                  <a:srgbClr val="0F172A"/>
                </a:solidFill>
                <a:latin typeface="Segoe UI"/>
              </a:rPr>
              <a:t>Fees</a:t>
            </a:r>
          </a:p>
        </p:txBody>
      </p:sp>
      <p:sp>
        <p:nvSpPr>
          <p:cNvPr id="28" name="TextBox 27"/>
          <p:cNvSpPr txBox="1"/>
          <p:nvPr/>
        </p:nvSpPr>
        <p:spPr>
          <a:xfrm>
            <a:off x="685800" y="2971800"/>
            <a:ext cx="2103120" cy="365760"/>
          </a:xfrm>
          <a:prstGeom prst="rect">
            <a:avLst/>
          </a:prstGeom>
          <a:noFill/>
        </p:spPr>
        <p:txBody>
          <a:bodyPr wrap="square">
            <a:spAutoFit/>
          </a:bodyPr>
          <a:lstStyle/>
          <a:p>
            <a:pPr algn="l"/>
            <a:r>
              <a:rPr sz="1100" b="0" i="0">
                <a:solidFill>
                  <a:srgbClr val="64748B"/>
                </a:solidFill>
                <a:latin typeface="Segoe UI"/>
              </a:rPr>
              <a:t>Invoices &amp; payments</a:t>
            </a:r>
          </a:p>
        </p:txBody>
      </p:sp>
      <p:sp>
        <p:nvSpPr>
          <p:cNvPr id="29" name="Rectangle 28"/>
          <p:cNvSpPr/>
          <p:nvPr/>
        </p:nvSpPr>
        <p:spPr>
          <a:xfrm>
            <a:off x="2880360" y="24688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71800" y="25420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31" name="TextBox 30"/>
          <p:cNvSpPr txBox="1"/>
          <p:nvPr/>
        </p:nvSpPr>
        <p:spPr>
          <a:xfrm>
            <a:off x="3520439" y="2560320"/>
            <a:ext cx="2103120" cy="365760"/>
          </a:xfrm>
          <a:prstGeom prst="rect">
            <a:avLst/>
          </a:prstGeom>
          <a:noFill/>
        </p:spPr>
        <p:txBody>
          <a:bodyPr wrap="square">
            <a:spAutoFit/>
          </a:bodyPr>
          <a:lstStyle/>
          <a:p>
            <a:pPr algn="l"/>
            <a:r>
              <a:rPr sz="1300" b="1" i="0">
                <a:solidFill>
                  <a:srgbClr val="0F172A"/>
                </a:solidFill>
                <a:latin typeface="Segoe UI"/>
              </a:rPr>
              <a:t>Homework</a:t>
            </a:r>
          </a:p>
        </p:txBody>
      </p:sp>
      <p:sp>
        <p:nvSpPr>
          <p:cNvPr id="32" name="TextBox 31"/>
          <p:cNvSpPr txBox="1"/>
          <p:nvPr/>
        </p:nvSpPr>
        <p:spPr>
          <a:xfrm>
            <a:off x="3520439" y="2971800"/>
            <a:ext cx="2103120" cy="365760"/>
          </a:xfrm>
          <a:prstGeom prst="rect">
            <a:avLst/>
          </a:prstGeom>
          <a:noFill/>
        </p:spPr>
        <p:txBody>
          <a:bodyPr wrap="square">
            <a:spAutoFit/>
          </a:bodyPr>
          <a:lstStyle/>
          <a:p>
            <a:pPr algn="l"/>
            <a:r>
              <a:rPr sz="1100" b="0" i="0">
                <a:solidFill>
                  <a:srgbClr val="64748B"/>
                </a:solidFill>
                <a:latin typeface="Segoe UI"/>
              </a:rPr>
              <a:t>Assign &amp; submit</a:t>
            </a:r>
          </a:p>
        </p:txBody>
      </p:sp>
      <p:sp>
        <p:nvSpPr>
          <p:cNvPr id="33" name="Rectangle 32"/>
          <p:cNvSpPr/>
          <p:nvPr/>
        </p:nvSpPr>
        <p:spPr>
          <a:xfrm>
            <a:off x="5715000" y="24688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06440" y="25420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35" name="TextBox 34"/>
          <p:cNvSpPr txBox="1"/>
          <p:nvPr/>
        </p:nvSpPr>
        <p:spPr>
          <a:xfrm>
            <a:off x="6355080" y="2560320"/>
            <a:ext cx="2103120" cy="365760"/>
          </a:xfrm>
          <a:prstGeom prst="rect">
            <a:avLst/>
          </a:prstGeom>
          <a:noFill/>
        </p:spPr>
        <p:txBody>
          <a:bodyPr wrap="square">
            <a:spAutoFit/>
          </a:bodyPr>
          <a:lstStyle/>
          <a:p>
            <a:pPr algn="l"/>
            <a:r>
              <a:rPr sz="1300" b="1" i="0">
                <a:solidFill>
                  <a:srgbClr val="0F172A"/>
                </a:solidFill>
                <a:latin typeface="Segoe UI"/>
              </a:rPr>
              <a:t>Announcements</a:t>
            </a:r>
          </a:p>
        </p:txBody>
      </p:sp>
      <p:sp>
        <p:nvSpPr>
          <p:cNvPr id="36" name="TextBox 35"/>
          <p:cNvSpPr txBox="1"/>
          <p:nvPr/>
        </p:nvSpPr>
        <p:spPr>
          <a:xfrm>
            <a:off x="6355080" y="2971800"/>
            <a:ext cx="2103120" cy="365760"/>
          </a:xfrm>
          <a:prstGeom prst="rect">
            <a:avLst/>
          </a:prstGeom>
          <a:noFill/>
        </p:spPr>
        <p:txBody>
          <a:bodyPr wrap="square">
            <a:spAutoFit/>
          </a:bodyPr>
          <a:lstStyle/>
          <a:p>
            <a:pPr algn="l"/>
            <a:r>
              <a:rPr sz="1100" b="0" i="0">
                <a:solidFill>
                  <a:srgbClr val="64748B"/>
                </a:solidFill>
                <a:latin typeface="Segoe UI"/>
              </a:rPr>
              <a:t>School notices</a:t>
            </a:r>
          </a:p>
        </p:txBody>
      </p:sp>
      <p:sp>
        <p:nvSpPr>
          <p:cNvPr id="37" name="Rectangle 36"/>
          <p:cNvSpPr/>
          <p:nvPr/>
        </p:nvSpPr>
        <p:spPr>
          <a:xfrm>
            <a:off x="8549640" y="24688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41080" y="25420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39" name="TextBox 38"/>
          <p:cNvSpPr txBox="1"/>
          <p:nvPr/>
        </p:nvSpPr>
        <p:spPr>
          <a:xfrm>
            <a:off x="9189720" y="2560320"/>
            <a:ext cx="2103120" cy="365760"/>
          </a:xfrm>
          <a:prstGeom prst="rect">
            <a:avLst/>
          </a:prstGeom>
          <a:noFill/>
        </p:spPr>
        <p:txBody>
          <a:bodyPr wrap="square">
            <a:spAutoFit/>
          </a:bodyPr>
          <a:lstStyle/>
          <a:p>
            <a:pPr algn="l"/>
            <a:r>
              <a:rPr sz="1300" b="1" i="0">
                <a:solidFill>
                  <a:srgbClr val="0F172A"/>
                </a:solidFill>
                <a:latin typeface="Segoe UI"/>
              </a:rPr>
              <a:t>Leave</a:t>
            </a:r>
          </a:p>
        </p:txBody>
      </p:sp>
      <p:sp>
        <p:nvSpPr>
          <p:cNvPr id="40" name="TextBox 39"/>
          <p:cNvSpPr txBox="1"/>
          <p:nvPr/>
        </p:nvSpPr>
        <p:spPr>
          <a:xfrm>
            <a:off x="9189720" y="2971800"/>
            <a:ext cx="2103120" cy="365760"/>
          </a:xfrm>
          <a:prstGeom prst="rect">
            <a:avLst/>
          </a:prstGeom>
          <a:noFill/>
        </p:spPr>
        <p:txBody>
          <a:bodyPr wrap="square">
            <a:spAutoFit/>
          </a:bodyPr>
          <a:lstStyle/>
          <a:p>
            <a:pPr algn="l"/>
            <a:r>
              <a:rPr sz="1100" b="0" i="0">
                <a:solidFill>
                  <a:srgbClr val="64748B"/>
                </a:solidFill>
                <a:latin typeface="Segoe UI"/>
              </a:rPr>
              <a:t>Apply &amp; approve</a:t>
            </a:r>
          </a:p>
        </p:txBody>
      </p:sp>
      <p:sp>
        <p:nvSpPr>
          <p:cNvPr id="41" name="Rectangle 40"/>
          <p:cNvSpPr/>
          <p:nvPr/>
        </p:nvSpPr>
        <p:spPr>
          <a:xfrm>
            <a:off x="11384280" y="24688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475720" y="25420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43" name="TextBox 42"/>
          <p:cNvSpPr txBox="1"/>
          <p:nvPr/>
        </p:nvSpPr>
        <p:spPr>
          <a:xfrm>
            <a:off x="12024360" y="2560320"/>
            <a:ext cx="2103120" cy="365760"/>
          </a:xfrm>
          <a:prstGeom prst="rect">
            <a:avLst/>
          </a:prstGeom>
          <a:noFill/>
        </p:spPr>
        <p:txBody>
          <a:bodyPr wrap="square">
            <a:spAutoFit/>
          </a:bodyPr>
          <a:lstStyle/>
          <a:p>
            <a:pPr algn="l"/>
            <a:r>
              <a:rPr sz="1300" b="1" i="0">
                <a:solidFill>
                  <a:srgbClr val="0F172A"/>
                </a:solidFill>
                <a:latin typeface="Segoe UI"/>
              </a:rPr>
              <a:t>Transport</a:t>
            </a:r>
          </a:p>
        </p:txBody>
      </p:sp>
      <p:sp>
        <p:nvSpPr>
          <p:cNvPr id="44" name="TextBox 43"/>
          <p:cNvSpPr txBox="1"/>
          <p:nvPr/>
        </p:nvSpPr>
        <p:spPr>
          <a:xfrm>
            <a:off x="12024360" y="2971800"/>
            <a:ext cx="2103120" cy="365760"/>
          </a:xfrm>
          <a:prstGeom prst="rect">
            <a:avLst/>
          </a:prstGeom>
          <a:noFill/>
        </p:spPr>
        <p:txBody>
          <a:bodyPr wrap="square">
            <a:spAutoFit/>
          </a:bodyPr>
          <a:lstStyle/>
          <a:p>
            <a:pPr algn="l"/>
            <a:r>
              <a:rPr sz="1100" b="0" i="0">
                <a:solidFill>
                  <a:srgbClr val="64748B"/>
                </a:solidFill>
                <a:latin typeface="Segoe UI"/>
              </a:rPr>
              <a:t>Routes &amp; rides</a:t>
            </a:r>
          </a:p>
        </p:txBody>
      </p:sp>
      <p:sp>
        <p:nvSpPr>
          <p:cNvPr id="45" name="Rectangle 44"/>
          <p:cNvSpPr/>
          <p:nvPr/>
        </p:nvSpPr>
        <p:spPr>
          <a:xfrm>
            <a:off x="45720" y="38404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160" y="39136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47" name="TextBox 46"/>
          <p:cNvSpPr txBox="1"/>
          <p:nvPr/>
        </p:nvSpPr>
        <p:spPr>
          <a:xfrm>
            <a:off x="685800" y="3931920"/>
            <a:ext cx="2103120" cy="365760"/>
          </a:xfrm>
          <a:prstGeom prst="rect">
            <a:avLst/>
          </a:prstGeom>
          <a:noFill/>
        </p:spPr>
        <p:txBody>
          <a:bodyPr wrap="square">
            <a:spAutoFit/>
          </a:bodyPr>
          <a:lstStyle/>
          <a:p>
            <a:pPr algn="l"/>
            <a:r>
              <a:rPr sz="1300" b="1" i="0">
                <a:solidFill>
                  <a:srgbClr val="0F172A"/>
                </a:solidFill>
                <a:latin typeface="Segoe UI"/>
              </a:rPr>
              <a:t>Online Classes</a:t>
            </a:r>
          </a:p>
        </p:txBody>
      </p:sp>
      <p:sp>
        <p:nvSpPr>
          <p:cNvPr id="48" name="TextBox 47"/>
          <p:cNvSpPr txBox="1"/>
          <p:nvPr/>
        </p:nvSpPr>
        <p:spPr>
          <a:xfrm>
            <a:off x="685800" y="4343400"/>
            <a:ext cx="2103120" cy="365760"/>
          </a:xfrm>
          <a:prstGeom prst="rect">
            <a:avLst/>
          </a:prstGeom>
          <a:noFill/>
        </p:spPr>
        <p:txBody>
          <a:bodyPr wrap="square">
            <a:spAutoFit/>
          </a:bodyPr>
          <a:lstStyle/>
          <a:p>
            <a:pPr algn="l"/>
            <a:r>
              <a:rPr sz="1100" b="0" i="0">
                <a:solidFill>
                  <a:srgbClr val="64748B"/>
                </a:solidFill>
                <a:latin typeface="Segoe UI"/>
              </a:rPr>
              <a:t>Live sessions</a:t>
            </a:r>
          </a:p>
        </p:txBody>
      </p:sp>
      <p:sp>
        <p:nvSpPr>
          <p:cNvPr id="49" name="Rectangle 48"/>
          <p:cNvSpPr/>
          <p:nvPr/>
        </p:nvSpPr>
        <p:spPr>
          <a:xfrm>
            <a:off x="2880360" y="38404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71800" y="39136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51" name="TextBox 50"/>
          <p:cNvSpPr txBox="1"/>
          <p:nvPr/>
        </p:nvSpPr>
        <p:spPr>
          <a:xfrm>
            <a:off x="3520439" y="3931920"/>
            <a:ext cx="2103120" cy="365760"/>
          </a:xfrm>
          <a:prstGeom prst="rect">
            <a:avLst/>
          </a:prstGeom>
          <a:noFill/>
        </p:spPr>
        <p:txBody>
          <a:bodyPr wrap="square">
            <a:spAutoFit/>
          </a:bodyPr>
          <a:lstStyle/>
          <a:p>
            <a:pPr algn="l"/>
            <a:r>
              <a:rPr sz="1300" b="1" i="0">
                <a:solidFill>
                  <a:srgbClr val="0F172A"/>
                </a:solidFill>
                <a:latin typeface="Segoe UI"/>
              </a:rPr>
              <a:t>Courses</a:t>
            </a:r>
          </a:p>
        </p:txBody>
      </p:sp>
      <p:sp>
        <p:nvSpPr>
          <p:cNvPr id="52" name="TextBox 51"/>
          <p:cNvSpPr txBox="1"/>
          <p:nvPr/>
        </p:nvSpPr>
        <p:spPr>
          <a:xfrm>
            <a:off x="3520439" y="4343400"/>
            <a:ext cx="2103120" cy="365760"/>
          </a:xfrm>
          <a:prstGeom prst="rect">
            <a:avLst/>
          </a:prstGeom>
          <a:noFill/>
        </p:spPr>
        <p:txBody>
          <a:bodyPr wrap="square">
            <a:spAutoFit/>
          </a:bodyPr>
          <a:lstStyle/>
          <a:p>
            <a:pPr algn="l"/>
            <a:r>
              <a:rPr sz="1100" b="0" i="0">
                <a:solidFill>
                  <a:srgbClr val="64748B"/>
                </a:solidFill>
                <a:latin typeface="Segoe UI"/>
              </a:rPr>
              <a:t>Enrol &amp; progress</a:t>
            </a:r>
          </a:p>
        </p:txBody>
      </p:sp>
      <p:sp>
        <p:nvSpPr>
          <p:cNvPr id="53" name="Rectangle 52"/>
          <p:cNvSpPr/>
          <p:nvPr/>
        </p:nvSpPr>
        <p:spPr>
          <a:xfrm>
            <a:off x="5715000" y="38404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06440" y="39136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55" name="TextBox 54"/>
          <p:cNvSpPr txBox="1"/>
          <p:nvPr/>
        </p:nvSpPr>
        <p:spPr>
          <a:xfrm>
            <a:off x="6355080" y="3931920"/>
            <a:ext cx="2103120" cy="365760"/>
          </a:xfrm>
          <a:prstGeom prst="rect">
            <a:avLst/>
          </a:prstGeom>
          <a:noFill/>
        </p:spPr>
        <p:txBody>
          <a:bodyPr wrap="square">
            <a:spAutoFit/>
          </a:bodyPr>
          <a:lstStyle/>
          <a:p>
            <a:pPr algn="l"/>
            <a:r>
              <a:rPr sz="1300" b="1" i="0">
                <a:solidFill>
                  <a:srgbClr val="0F172A"/>
                </a:solidFill>
                <a:latin typeface="Segoe UI"/>
              </a:rPr>
              <a:t>Exams</a:t>
            </a:r>
          </a:p>
        </p:txBody>
      </p:sp>
      <p:sp>
        <p:nvSpPr>
          <p:cNvPr id="56" name="TextBox 55"/>
          <p:cNvSpPr txBox="1"/>
          <p:nvPr/>
        </p:nvSpPr>
        <p:spPr>
          <a:xfrm>
            <a:off x="6355080" y="4343400"/>
            <a:ext cx="2103120" cy="365760"/>
          </a:xfrm>
          <a:prstGeom prst="rect">
            <a:avLst/>
          </a:prstGeom>
          <a:noFill/>
        </p:spPr>
        <p:txBody>
          <a:bodyPr wrap="square">
            <a:spAutoFit/>
          </a:bodyPr>
          <a:lstStyle/>
          <a:p>
            <a:pPr algn="l"/>
            <a:r>
              <a:rPr sz="1100" b="0" i="0">
                <a:solidFill>
                  <a:srgbClr val="64748B"/>
                </a:solidFill>
                <a:latin typeface="Segoe UI"/>
              </a:rPr>
              <a:t>Schedule &amp; results</a:t>
            </a:r>
          </a:p>
        </p:txBody>
      </p:sp>
      <p:sp>
        <p:nvSpPr>
          <p:cNvPr id="57" name="Rectangle 56"/>
          <p:cNvSpPr/>
          <p:nvPr/>
        </p:nvSpPr>
        <p:spPr>
          <a:xfrm>
            <a:off x="8549640" y="38404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41080" y="39136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59" name="TextBox 58"/>
          <p:cNvSpPr txBox="1"/>
          <p:nvPr/>
        </p:nvSpPr>
        <p:spPr>
          <a:xfrm>
            <a:off x="9189720" y="3931920"/>
            <a:ext cx="2103120" cy="365760"/>
          </a:xfrm>
          <a:prstGeom prst="rect">
            <a:avLst/>
          </a:prstGeom>
          <a:noFill/>
        </p:spPr>
        <p:txBody>
          <a:bodyPr wrap="square">
            <a:spAutoFit/>
          </a:bodyPr>
          <a:lstStyle/>
          <a:p>
            <a:pPr algn="l"/>
            <a:r>
              <a:rPr sz="1300" b="1" i="0">
                <a:solidFill>
                  <a:srgbClr val="0F172A"/>
                </a:solidFill>
                <a:latin typeface="Segoe UI"/>
              </a:rPr>
              <a:t>Timetable</a:t>
            </a:r>
          </a:p>
        </p:txBody>
      </p:sp>
      <p:sp>
        <p:nvSpPr>
          <p:cNvPr id="60" name="TextBox 59"/>
          <p:cNvSpPr txBox="1"/>
          <p:nvPr/>
        </p:nvSpPr>
        <p:spPr>
          <a:xfrm>
            <a:off x="9189720" y="4343400"/>
            <a:ext cx="2103120" cy="365760"/>
          </a:xfrm>
          <a:prstGeom prst="rect">
            <a:avLst/>
          </a:prstGeom>
          <a:noFill/>
        </p:spPr>
        <p:txBody>
          <a:bodyPr wrap="square">
            <a:spAutoFit/>
          </a:bodyPr>
          <a:lstStyle/>
          <a:p>
            <a:pPr algn="l"/>
            <a:r>
              <a:rPr sz="1100" b="0" i="0">
                <a:solidFill>
                  <a:srgbClr val="64748B"/>
                </a:solidFill>
                <a:latin typeface="Segoe UI"/>
              </a:rPr>
              <a:t>Class schedule</a:t>
            </a:r>
          </a:p>
        </p:txBody>
      </p:sp>
      <p:sp>
        <p:nvSpPr>
          <p:cNvPr id="61" name="Rectangle 60"/>
          <p:cNvSpPr/>
          <p:nvPr/>
        </p:nvSpPr>
        <p:spPr>
          <a:xfrm>
            <a:off x="11384280" y="38404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475720" y="39136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63" name="TextBox 62"/>
          <p:cNvSpPr txBox="1"/>
          <p:nvPr/>
        </p:nvSpPr>
        <p:spPr>
          <a:xfrm>
            <a:off x="12024360" y="3931920"/>
            <a:ext cx="2103120" cy="365760"/>
          </a:xfrm>
          <a:prstGeom prst="rect">
            <a:avLst/>
          </a:prstGeom>
          <a:noFill/>
        </p:spPr>
        <p:txBody>
          <a:bodyPr wrap="square">
            <a:spAutoFit/>
          </a:bodyPr>
          <a:lstStyle/>
          <a:p>
            <a:pPr algn="l"/>
            <a:r>
              <a:rPr sz="1300" b="1" i="0">
                <a:solidFill>
                  <a:srgbClr val="0F172A"/>
                </a:solidFill>
                <a:latin typeface="Segoe UI"/>
              </a:rPr>
              <a:t>Syllabus</a:t>
            </a:r>
          </a:p>
        </p:txBody>
      </p:sp>
      <p:sp>
        <p:nvSpPr>
          <p:cNvPr id="64" name="TextBox 63"/>
          <p:cNvSpPr txBox="1"/>
          <p:nvPr/>
        </p:nvSpPr>
        <p:spPr>
          <a:xfrm>
            <a:off x="12024360" y="4343400"/>
            <a:ext cx="2103120" cy="365760"/>
          </a:xfrm>
          <a:prstGeom prst="rect">
            <a:avLst/>
          </a:prstGeom>
          <a:noFill/>
        </p:spPr>
        <p:txBody>
          <a:bodyPr wrap="square">
            <a:spAutoFit/>
          </a:bodyPr>
          <a:lstStyle/>
          <a:p>
            <a:pPr algn="l"/>
            <a:r>
              <a:rPr sz="1100" b="0" i="0">
                <a:solidFill>
                  <a:srgbClr val="64748B"/>
                </a:solidFill>
                <a:latin typeface="Segoe UI"/>
              </a:rPr>
              <a:t>Subject topics</a:t>
            </a:r>
          </a:p>
        </p:txBody>
      </p:sp>
      <p:sp>
        <p:nvSpPr>
          <p:cNvPr id="65" name="Rectangle 64"/>
          <p:cNvSpPr/>
          <p:nvPr/>
        </p:nvSpPr>
        <p:spPr>
          <a:xfrm>
            <a:off x="45720" y="52120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37160" y="52852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67" name="TextBox 66"/>
          <p:cNvSpPr txBox="1"/>
          <p:nvPr/>
        </p:nvSpPr>
        <p:spPr>
          <a:xfrm>
            <a:off x="685800" y="5303520"/>
            <a:ext cx="2103120" cy="365760"/>
          </a:xfrm>
          <a:prstGeom prst="rect">
            <a:avLst/>
          </a:prstGeom>
          <a:noFill/>
        </p:spPr>
        <p:txBody>
          <a:bodyPr wrap="square">
            <a:spAutoFit/>
          </a:bodyPr>
          <a:lstStyle/>
          <a:p>
            <a:pPr algn="l"/>
            <a:r>
              <a:rPr sz="1300" b="1" i="0">
                <a:solidFill>
                  <a:srgbClr val="0F172A"/>
                </a:solidFill>
                <a:latin typeface="Segoe UI"/>
              </a:rPr>
              <a:t>Events</a:t>
            </a:r>
          </a:p>
        </p:txBody>
      </p:sp>
      <p:sp>
        <p:nvSpPr>
          <p:cNvPr id="68" name="TextBox 67"/>
          <p:cNvSpPr txBox="1"/>
          <p:nvPr/>
        </p:nvSpPr>
        <p:spPr>
          <a:xfrm>
            <a:off x="685800" y="5715000"/>
            <a:ext cx="2103120" cy="365760"/>
          </a:xfrm>
          <a:prstGeom prst="rect">
            <a:avLst/>
          </a:prstGeom>
          <a:noFill/>
        </p:spPr>
        <p:txBody>
          <a:bodyPr wrap="square">
            <a:spAutoFit/>
          </a:bodyPr>
          <a:lstStyle/>
          <a:p>
            <a:pPr algn="l"/>
            <a:r>
              <a:rPr sz="1100" b="0" i="0">
                <a:solidFill>
                  <a:srgbClr val="64748B"/>
                </a:solidFill>
                <a:latin typeface="Segoe UI"/>
              </a:rPr>
              <a:t>School calendar</a:t>
            </a:r>
          </a:p>
        </p:txBody>
      </p:sp>
      <p:sp>
        <p:nvSpPr>
          <p:cNvPr id="69" name="Rectangle 68"/>
          <p:cNvSpPr/>
          <p:nvPr/>
        </p:nvSpPr>
        <p:spPr>
          <a:xfrm>
            <a:off x="2880360" y="52120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71800" y="52852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71" name="TextBox 70"/>
          <p:cNvSpPr txBox="1"/>
          <p:nvPr/>
        </p:nvSpPr>
        <p:spPr>
          <a:xfrm>
            <a:off x="3520439" y="5303520"/>
            <a:ext cx="2103120" cy="365760"/>
          </a:xfrm>
          <a:prstGeom prst="rect">
            <a:avLst/>
          </a:prstGeom>
          <a:noFill/>
        </p:spPr>
        <p:txBody>
          <a:bodyPr wrap="square">
            <a:spAutoFit/>
          </a:bodyPr>
          <a:lstStyle/>
          <a:p>
            <a:pPr algn="l"/>
            <a:r>
              <a:rPr sz="1300" b="1" i="0">
                <a:solidFill>
                  <a:srgbClr val="0F172A"/>
                </a:solidFill>
                <a:latin typeface="Segoe UI"/>
              </a:rPr>
              <a:t>Compliance</a:t>
            </a:r>
          </a:p>
        </p:txBody>
      </p:sp>
      <p:sp>
        <p:nvSpPr>
          <p:cNvPr id="72" name="TextBox 71"/>
          <p:cNvSpPr txBox="1"/>
          <p:nvPr/>
        </p:nvSpPr>
        <p:spPr>
          <a:xfrm>
            <a:off x="3520439" y="5715000"/>
            <a:ext cx="2103120" cy="365760"/>
          </a:xfrm>
          <a:prstGeom prst="rect">
            <a:avLst/>
          </a:prstGeom>
          <a:noFill/>
        </p:spPr>
        <p:txBody>
          <a:bodyPr wrap="square">
            <a:spAutoFit/>
          </a:bodyPr>
          <a:lstStyle/>
          <a:p>
            <a:pPr algn="l"/>
            <a:r>
              <a:rPr sz="1100" b="0" i="0">
                <a:solidFill>
                  <a:srgbClr val="64748B"/>
                </a:solidFill>
                <a:latin typeface="Segoe UI"/>
              </a:rPr>
              <a:t>Policy checklist</a:t>
            </a:r>
          </a:p>
        </p:txBody>
      </p:sp>
      <p:sp>
        <p:nvSpPr>
          <p:cNvPr id="73" name="Rectangle 72"/>
          <p:cNvSpPr/>
          <p:nvPr/>
        </p:nvSpPr>
        <p:spPr>
          <a:xfrm>
            <a:off x="5715000" y="52120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806440" y="52852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75" name="TextBox 74"/>
          <p:cNvSpPr txBox="1"/>
          <p:nvPr/>
        </p:nvSpPr>
        <p:spPr>
          <a:xfrm>
            <a:off x="6355080" y="5303520"/>
            <a:ext cx="2103120" cy="365760"/>
          </a:xfrm>
          <a:prstGeom prst="rect">
            <a:avLst/>
          </a:prstGeom>
          <a:noFill/>
        </p:spPr>
        <p:txBody>
          <a:bodyPr wrap="square">
            <a:spAutoFit/>
          </a:bodyPr>
          <a:lstStyle/>
          <a:p>
            <a:pPr algn="l"/>
            <a:r>
              <a:rPr sz="1300" b="1" i="0">
                <a:solidFill>
                  <a:srgbClr val="0F172A"/>
                </a:solidFill>
                <a:latin typeface="Segoe UI"/>
              </a:rPr>
              <a:t>Vendor/Shop</a:t>
            </a:r>
          </a:p>
        </p:txBody>
      </p:sp>
      <p:sp>
        <p:nvSpPr>
          <p:cNvPr id="76" name="TextBox 75"/>
          <p:cNvSpPr txBox="1"/>
          <p:nvPr/>
        </p:nvSpPr>
        <p:spPr>
          <a:xfrm>
            <a:off x="6355080" y="5715000"/>
            <a:ext cx="2103120" cy="365760"/>
          </a:xfrm>
          <a:prstGeom prst="rect">
            <a:avLst/>
          </a:prstGeom>
          <a:noFill/>
        </p:spPr>
        <p:txBody>
          <a:bodyPr wrap="square">
            <a:spAutoFit/>
          </a:bodyPr>
          <a:lstStyle/>
          <a:p>
            <a:pPr algn="l"/>
            <a:r>
              <a:rPr sz="1100" b="0" i="0">
                <a:solidFill>
                  <a:srgbClr val="64748B"/>
                </a:solidFill>
                <a:latin typeface="Segoe UI"/>
              </a:rPr>
              <a:t>Buy supplies</a:t>
            </a:r>
          </a:p>
        </p:txBody>
      </p:sp>
      <p:sp>
        <p:nvSpPr>
          <p:cNvPr id="77" name="Rectangle 76"/>
          <p:cNvSpPr/>
          <p:nvPr/>
        </p:nvSpPr>
        <p:spPr>
          <a:xfrm>
            <a:off x="8549640" y="52120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41080" y="52852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79" name="TextBox 78"/>
          <p:cNvSpPr txBox="1"/>
          <p:nvPr/>
        </p:nvSpPr>
        <p:spPr>
          <a:xfrm>
            <a:off x="9189720" y="5303520"/>
            <a:ext cx="2103120" cy="365760"/>
          </a:xfrm>
          <a:prstGeom prst="rect">
            <a:avLst/>
          </a:prstGeom>
          <a:noFill/>
        </p:spPr>
        <p:txBody>
          <a:bodyPr wrap="square">
            <a:spAutoFit/>
          </a:bodyPr>
          <a:lstStyle/>
          <a:p>
            <a:pPr algn="l"/>
            <a:r>
              <a:rPr sz="1300" b="1" i="0">
                <a:solidFill>
                  <a:srgbClr val="0F172A"/>
                </a:solidFill>
                <a:latin typeface="Segoe UI"/>
              </a:rPr>
              <a:t>Consultant</a:t>
            </a:r>
          </a:p>
        </p:txBody>
      </p:sp>
      <p:sp>
        <p:nvSpPr>
          <p:cNvPr id="80" name="TextBox 79"/>
          <p:cNvSpPr txBox="1"/>
          <p:nvPr/>
        </p:nvSpPr>
        <p:spPr>
          <a:xfrm>
            <a:off x="9189720" y="5715000"/>
            <a:ext cx="2103120" cy="365760"/>
          </a:xfrm>
          <a:prstGeom prst="rect">
            <a:avLst/>
          </a:prstGeom>
          <a:noFill/>
        </p:spPr>
        <p:txBody>
          <a:bodyPr wrap="square">
            <a:spAutoFit/>
          </a:bodyPr>
          <a:lstStyle/>
          <a:p>
            <a:pPr algn="l"/>
            <a:r>
              <a:rPr sz="1100" b="0" i="0">
                <a:solidFill>
                  <a:srgbClr val="64748B"/>
                </a:solidFill>
                <a:latin typeface="Segoe UI"/>
              </a:rPr>
              <a:t>Career guidance</a:t>
            </a:r>
          </a:p>
        </p:txBody>
      </p:sp>
      <p:sp>
        <p:nvSpPr>
          <p:cNvPr id="81" name="Rectangle 80"/>
          <p:cNvSpPr/>
          <p:nvPr/>
        </p:nvSpPr>
        <p:spPr>
          <a:xfrm>
            <a:off x="11384280" y="52120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475720" y="52852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83" name="TextBox 82"/>
          <p:cNvSpPr txBox="1"/>
          <p:nvPr/>
        </p:nvSpPr>
        <p:spPr>
          <a:xfrm>
            <a:off x="12024360" y="5303520"/>
            <a:ext cx="2103120" cy="365760"/>
          </a:xfrm>
          <a:prstGeom prst="rect">
            <a:avLst/>
          </a:prstGeom>
          <a:noFill/>
        </p:spPr>
        <p:txBody>
          <a:bodyPr wrap="square">
            <a:spAutoFit/>
          </a:bodyPr>
          <a:lstStyle/>
          <a:p>
            <a:pPr algn="l"/>
            <a:r>
              <a:rPr sz="1300" b="1" i="0">
                <a:solidFill>
                  <a:srgbClr val="0F172A"/>
                </a:solidFill>
                <a:latin typeface="Segoe UI"/>
              </a:rPr>
              <a:t>Reports</a:t>
            </a:r>
          </a:p>
        </p:txBody>
      </p:sp>
      <p:sp>
        <p:nvSpPr>
          <p:cNvPr id="84" name="TextBox 83"/>
          <p:cNvSpPr txBox="1"/>
          <p:nvPr/>
        </p:nvSpPr>
        <p:spPr>
          <a:xfrm>
            <a:off x="12024360" y="5715000"/>
            <a:ext cx="2103120" cy="365760"/>
          </a:xfrm>
          <a:prstGeom prst="rect">
            <a:avLst/>
          </a:prstGeom>
          <a:noFill/>
        </p:spPr>
        <p:txBody>
          <a:bodyPr wrap="square">
            <a:spAutoFit/>
          </a:bodyPr>
          <a:lstStyle/>
          <a:p>
            <a:pPr algn="l"/>
            <a:r>
              <a:rPr sz="1100" b="0" i="0">
                <a:solidFill>
                  <a:srgbClr val="64748B"/>
                </a:solidFill>
                <a:latin typeface="Segoe UI"/>
              </a:rPr>
              <a:t>Export &amp; analyse</a:t>
            </a:r>
          </a:p>
        </p:txBody>
      </p:sp>
      <p:sp>
        <p:nvSpPr>
          <p:cNvPr id="85" name="Rectangle 84"/>
          <p:cNvSpPr/>
          <p:nvPr/>
        </p:nvSpPr>
        <p:spPr>
          <a:xfrm>
            <a:off x="45720" y="65836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37160" y="66568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87" name="TextBox 86"/>
          <p:cNvSpPr txBox="1"/>
          <p:nvPr/>
        </p:nvSpPr>
        <p:spPr>
          <a:xfrm>
            <a:off x="685800" y="6675120"/>
            <a:ext cx="2103120" cy="365760"/>
          </a:xfrm>
          <a:prstGeom prst="rect">
            <a:avLst/>
          </a:prstGeom>
          <a:noFill/>
        </p:spPr>
        <p:txBody>
          <a:bodyPr wrap="square">
            <a:spAutoFit/>
          </a:bodyPr>
          <a:lstStyle/>
          <a:p>
            <a:pPr algn="l"/>
            <a:r>
              <a:rPr sz="1300" b="1" i="0">
                <a:solidFill>
                  <a:srgbClr val="0F172A"/>
                </a:solidFill>
                <a:latin typeface="Segoe UI"/>
              </a:rPr>
              <a:t>Queries</a:t>
            </a:r>
          </a:p>
        </p:txBody>
      </p:sp>
      <p:sp>
        <p:nvSpPr>
          <p:cNvPr id="88" name="TextBox 87"/>
          <p:cNvSpPr txBox="1"/>
          <p:nvPr/>
        </p:nvSpPr>
        <p:spPr>
          <a:xfrm>
            <a:off x="685800" y="7086600"/>
            <a:ext cx="2103120" cy="365760"/>
          </a:xfrm>
          <a:prstGeom prst="rect">
            <a:avLst/>
          </a:prstGeom>
          <a:noFill/>
        </p:spPr>
        <p:txBody>
          <a:bodyPr wrap="square">
            <a:spAutoFit/>
          </a:bodyPr>
          <a:lstStyle/>
          <a:p>
            <a:pPr algn="l"/>
            <a:r>
              <a:rPr sz="1100" b="0" i="0">
                <a:solidFill>
                  <a:srgbClr val="64748B"/>
                </a:solidFill>
                <a:latin typeface="Segoe UI"/>
              </a:rPr>
              <a:t>Ask admin</a:t>
            </a:r>
          </a:p>
        </p:txBody>
      </p:sp>
      <p:sp>
        <p:nvSpPr>
          <p:cNvPr id="89" name="Rectangle 88"/>
          <p:cNvSpPr/>
          <p:nvPr/>
        </p:nvSpPr>
        <p:spPr>
          <a:xfrm>
            <a:off x="2880360" y="65836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971800" y="66568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91" name="TextBox 90"/>
          <p:cNvSpPr txBox="1"/>
          <p:nvPr/>
        </p:nvSpPr>
        <p:spPr>
          <a:xfrm>
            <a:off x="3520439" y="6675120"/>
            <a:ext cx="2103120" cy="365760"/>
          </a:xfrm>
          <a:prstGeom prst="rect">
            <a:avLst/>
          </a:prstGeom>
          <a:noFill/>
        </p:spPr>
        <p:txBody>
          <a:bodyPr wrap="square">
            <a:spAutoFit/>
          </a:bodyPr>
          <a:lstStyle/>
          <a:p>
            <a:pPr algn="l"/>
            <a:r>
              <a:rPr sz="1300" b="1" i="0">
                <a:solidFill>
                  <a:srgbClr val="0F172A"/>
                </a:solidFill>
                <a:latin typeface="Segoe UI"/>
              </a:rPr>
              <a:t>Letters</a:t>
            </a:r>
          </a:p>
        </p:txBody>
      </p:sp>
      <p:sp>
        <p:nvSpPr>
          <p:cNvPr id="92" name="TextBox 91"/>
          <p:cNvSpPr txBox="1"/>
          <p:nvPr/>
        </p:nvSpPr>
        <p:spPr>
          <a:xfrm>
            <a:off x="3520439" y="7086600"/>
            <a:ext cx="2103120" cy="365760"/>
          </a:xfrm>
          <a:prstGeom prst="rect">
            <a:avLst/>
          </a:prstGeom>
          <a:noFill/>
        </p:spPr>
        <p:txBody>
          <a:bodyPr wrap="square">
            <a:spAutoFit/>
          </a:bodyPr>
          <a:lstStyle/>
          <a:p>
            <a:pPr algn="l"/>
            <a:r>
              <a:rPr sz="1100" b="0" i="0">
                <a:solidFill>
                  <a:srgbClr val="64748B"/>
                </a:solidFill>
                <a:latin typeface="Segoe UI"/>
              </a:rPr>
              <a:t>Custom templates</a:t>
            </a:r>
          </a:p>
        </p:txBody>
      </p:sp>
      <p:sp>
        <p:nvSpPr>
          <p:cNvPr id="93" name="Rectangle 92"/>
          <p:cNvSpPr/>
          <p:nvPr/>
        </p:nvSpPr>
        <p:spPr>
          <a:xfrm>
            <a:off x="5715000" y="65836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806440" y="66568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95" name="TextBox 94"/>
          <p:cNvSpPr txBox="1"/>
          <p:nvPr/>
        </p:nvSpPr>
        <p:spPr>
          <a:xfrm>
            <a:off x="6355080" y="6675120"/>
            <a:ext cx="2103120" cy="365760"/>
          </a:xfrm>
          <a:prstGeom prst="rect">
            <a:avLst/>
          </a:prstGeom>
          <a:noFill/>
        </p:spPr>
        <p:txBody>
          <a:bodyPr wrap="square">
            <a:spAutoFit/>
          </a:bodyPr>
          <a:lstStyle/>
          <a:p>
            <a:pPr algn="l"/>
            <a:r>
              <a:rPr sz="1300" b="1" i="0">
                <a:solidFill>
                  <a:srgbClr val="0F172A"/>
                </a:solidFill>
                <a:latin typeface="Segoe UI"/>
              </a:rPr>
              <a:t>Masters</a:t>
            </a:r>
          </a:p>
        </p:txBody>
      </p:sp>
      <p:sp>
        <p:nvSpPr>
          <p:cNvPr id="96" name="TextBox 95"/>
          <p:cNvSpPr txBox="1"/>
          <p:nvPr/>
        </p:nvSpPr>
        <p:spPr>
          <a:xfrm>
            <a:off x="6355080" y="7086600"/>
            <a:ext cx="2103120" cy="365760"/>
          </a:xfrm>
          <a:prstGeom prst="rect">
            <a:avLst/>
          </a:prstGeom>
          <a:noFill/>
        </p:spPr>
        <p:txBody>
          <a:bodyPr wrap="square">
            <a:spAutoFit/>
          </a:bodyPr>
          <a:lstStyle/>
          <a:p>
            <a:pPr algn="l"/>
            <a:r>
              <a:rPr sz="1100" b="0" i="0">
                <a:solidFill>
                  <a:srgbClr val="64748B"/>
                </a:solidFill>
                <a:latin typeface="Segoe UI"/>
              </a:rPr>
              <a:t>Lookup config</a:t>
            </a:r>
          </a:p>
        </p:txBody>
      </p:sp>
      <p:sp>
        <p:nvSpPr>
          <p:cNvPr id="97" name="Rectangle 96"/>
          <p:cNvSpPr/>
          <p:nvPr/>
        </p:nvSpPr>
        <p:spPr>
          <a:xfrm>
            <a:off x="8549640" y="65836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641080" y="66568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99" name="TextBox 98"/>
          <p:cNvSpPr txBox="1"/>
          <p:nvPr/>
        </p:nvSpPr>
        <p:spPr>
          <a:xfrm>
            <a:off x="9189720" y="6675120"/>
            <a:ext cx="2103120" cy="365760"/>
          </a:xfrm>
          <a:prstGeom prst="rect">
            <a:avLst/>
          </a:prstGeom>
          <a:noFill/>
        </p:spPr>
        <p:txBody>
          <a:bodyPr wrap="square">
            <a:spAutoFit/>
          </a:bodyPr>
          <a:lstStyle/>
          <a:p>
            <a:pPr algn="l"/>
            <a:r>
              <a:rPr sz="1300" b="1" i="0">
                <a:solidFill>
                  <a:srgbClr val="0F172A"/>
                </a:solidFill>
                <a:latin typeface="Segoe UI"/>
              </a:rPr>
              <a:t>Roles &amp; Access</a:t>
            </a:r>
          </a:p>
        </p:txBody>
      </p:sp>
      <p:sp>
        <p:nvSpPr>
          <p:cNvPr id="100" name="TextBox 99"/>
          <p:cNvSpPr txBox="1"/>
          <p:nvPr/>
        </p:nvSpPr>
        <p:spPr>
          <a:xfrm>
            <a:off x="9189720" y="7086600"/>
            <a:ext cx="2103120" cy="365760"/>
          </a:xfrm>
          <a:prstGeom prst="rect">
            <a:avLst/>
          </a:prstGeom>
          <a:noFill/>
        </p:spPr>
        <p:txBody>
          <a:bodyPr wrap="square">
            <a:spAutoFit/>
          </a:bodyPr>
          <a:lstStyle/>
          <a:p>
            <a:pPr algn="l"/>
            <a:r>
              <a:rPr sz="1100" b="0" i="0">
                <a:solidFill>
                  <a:srgbClr val="64748B"/>
                </a:solidFill>
                <a:latin typeface="Segoe UI"/>
              </a:rPr>
              <a:t>RBAC security</a:t>
            </a:r>
          </a:p>
        </p:txBody>
      </p:sp>
      <p:sp>
        <p:nvSpPr>
          <p:cNvPr id="101" name="Rectangle 100"/>
          <p:cNvSpPr/>
          <p:nvPr/>
        </p:nvSpPr>
        <p:spPr>
          <a:xfrm>
            <a:off x="11384280" y="6583680"/>
            <a:ext cx="27432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475720" y="6656832"/>
            <a:ext cx="548640" cy="457200"/>
          </a:xfrm>
          <a:prstGeom prst="rect">
            <a:avLst/>
          </a:prstGeom>
          <a:noFill/>
        </p:spPr>
        <p:txBody>
          <a:bodyPr wrap="square">
            <a:spAutoFit/>
          </a:bodyPr>
          <a:lstStyle/>
          <a:p>
            <a:pPr algn="l"/>
            <a:r>
              <a:rPr sz="2000" b="0" i="0">
                <a:solidFill>
                  <a:srgbClr val="FFFFFF"/>
                </a:solidFill>
                <a:latin typeface="Segoe UI"/>
              </a:rPr>
              <a:t>📱</a:t>
            </a:r>
          </a:p>
        </p:txBody>
      </p:sp>
      <p:sp>
        <p:nvSpPr>
          <p:cNvPr id="103" name="TextBox 102"/>
          <p:cNvSpPr txBox="1"/>
          <p:nvPr/>
        </p:nvSpPr>
        <p:spPr>
          <a:xfrm>
            <a:off x="12024360" y="6675120"/>
            <a:ext cx="2103120" cy="365760"/>
          </a:xfrm>
          <a:prstGeom prst="rect">
            <a:avLst/>
          </a:prstGeom>
          <a:noFill/>
        </p:spPr>
        <p:txBody>
          <a:bodyPr wrap="square">
            <a:spAutoFit/>
          </a:bodyPr>
          <a:lstStyle/>
          <a:p>
            <a:pPr algn="l"/>
            <a:r>
              <a:rPr sz="1300" b="1" i="0">
                <a:solidFill>
                  <a:srgbClr val="0F172A"/>
                </a:solidFill>
                <a:latin typeface="Segoe UI"/>
              </a:rPr>
              <a:t>Mobile App</a:t>
            </a:r>
          </a:p>
        </p:txBody>
      </p:sp>
      <p:sp>
        <p:nvSpPr>
          <p:cNvPr id="104" name="TextBox 103"/>
          <p:cNvSpPr txBox="1"/>
          <p:nvPr/>
        </p:nvSpPr>
        <p:spPr>
          <a:xfrm>
            <a:off x="12024360" y="7086600"/>
            <a:ext cx="2103120" cy="365760"/>
          </a:xfrm>
          <a:prstGeom prst="rect">
            <a:avLst/>
          </a:prstGeom>
          <a:noFill/>
        </p:spPr>
        <p:txBody>
          <a:bodyPr wrap="square">
            <a:spAutoFit/>
          </a:bodyPr>
          <a:lstStyle/>
          <a:p>
            <a:pPr algn="l"/>
            <a:r>
              <a:rPr sz="1100" b="0" i="0">
                <a:solidFill>
                  <a:srgbClr val="64748B"/>
                </a:solidFill>
                <a:latin typeface="Segoe UI"/>
              </a:rPr>
              <a:t>iOS &amp; Android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Platform Foundation</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How Yulaa is built to support many schools securely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Multi-School &amp; Multi-Tenant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One platform, many schools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Yulaa can manage many schools at once on the same platform. Each school has its own data, users, and settings — completely separated from others.</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Each school gets its own students, teachers, fees, and settings</a:t>
            </a:r>
          </a:p>
          <a:p>
            <a:pPr>
              <a:spcBef>
                <a:spcPts val="400"/>
              </a:spcBef>
            </a:pPr>
            <a:r>
              <a:rPr sz="1400">
                <a:solidFill>
                  <a:srgbClr val="0F172A"/>
                </a:solidFill>
                <a:latin typeface="Segoe UI"/>
              </a:rPr>
              <a:t>●  Super Admin can view and manage all schools from one place</a:t>
            </a:r>
          </a:p>
          <a:p>
            <a:pPr>
              <a:spcBef>
                <a:spcPts val="400"/>
              </a:spcBef>
            </a:pPr>
            <a:r>
              <a:rPr sz="1400">
                <a:solidFill>
                  <a:srgbClr val="0F172A"/>
                </a:solidFill>
                <a:latin typeface="Segoe UI"/>
              </a:rPr>
              <a:t>●  Schools can be 'default' for platform-level operations</a:t>
            </a:r>
          </a:p>
          <a:p>
            <a:pPr>
              <a:spcBef>
                <a:spcPts val="400"/>
              </a:spcBef>
            </a:pPr>
            <a:r>
              <a:rPr sz="1400">
                <a:solidFill>
                  <a:srgbClr val="0F172A"/>
                </a:solidFill>
                <a:latin typeface="Segoe UI"/>
              </a:rPr>
              <a:t>●  Each school has subscription plans (basic / premium)</a:t>
            </a:r>
          </a:p>
          <a:p>
            <a:pPr>
              <a:spcBef>
                <a:spcPts val="400"/>
              </a:spcBef>
            </a:pPr>
            <a:r>
              <a:rPr sz="1400">
                <a:solidFill>
                  <a:srgbClr val="0F172A"/>
                </a:solidFill>
                <a:latin typeface="Segoe UI"/>
              </a:rPr>
              <a:t>●  School profile: name, logo, address, board type, facilities</a:t>
            </a:r>
          </a:p>
          <a:p>
            <a:pPr>
              <a:spcBef>
                <a:spcPts val="400"/>
              </a:spcBef>
            </a:pPr>
            <a:r>
              <a:rPr sz="1400">
                <a:solidFill>
                  <a:srgbClr val="0F172A"/>
                </a:solidFill>
                <a:latin typeface="Segoe UI"/>
              </a:rPr>
              <a:t>●  Toggle features per school: online classes, courses, external vendors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255CDB"/>
                </a:solidFill>
                <a:latin typeface="Segoe UI"/>
              </a:rPr>
              <a:t>📌 Example – School Setup</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Delhi Public School – Sector 45 is added to Yulaa.
It has its own 800 students, 50 teachers, and fee structures.
St. Xavier's School is also on the same platform but their data is
completely separate — admins of DPS cannot see Xavier's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Role-Based Access Control (RBAC)</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The right access for the right person</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Every user in Yulaa has a role. The role decides what they can see and do. This keeps data safe and operations clean.</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Roles: Super Admin, School Admin, Teacher, Parent, Student, Vendor, Consultant</a:t>
            </a:r>
          </a:p>
          <a:p>
            <a:pPr>
              <a:spcBef>
                <a:spcPts val="400"/>
              </a:spcBef>
            </a:pPr>
            <a:r>
              <a:rPr sz="1400">
                <a:solidFill>
                  <a:srgbClr val="0F172A"/>
                </a:solidFill>
                <a:latin typeface="Segoe UI"/>
              </a:rPr>
              <a:t>●  A user can have different roles in different schools</a:t>
            </a:r>
          </a:p>
          <a:p>
            <a:pPr>
              <a:spcBef>
                <a:spcPts val="400"/>
              </a:spcBef>
            </a:pPr>
            <a:r>
              <a:rPr sz="1400">
                <a:solidFill>
                  <a:srgbClr val="0F172A"/>
                </a:solidFill>
                <a:latin typeface="Segoe UI"/>
              </a:rPr>
              <a:t>●  Menu permissions can be customised per school per role</a:t>
            </a:r>
          </a:p>
          <a:p>
            <a:pPr>
              <a:spcBef>
                <a:spcPts val="400"/>
              </a:spcBef>
            </a:pPr>
            <a:r>
              <a:rPr sz="1400">
                <a:solidFill>
                  <a:srgbClr val="0F172A"/>
                </a:solidFill>
                <a:latin typeface="Segoe UI"/>
              </a:rPr>
              <a:t>●  Sensitive operations (fee collection, admission approval) restricted to admins</a:t>
            </a:r>
          </a:p>
          <a:p>
            <a:pPr>
              <a:spcBef>
                <a:spcPts val="400"/>
              </a:spcBef>
            </a:pPr>
            <a:r>
              <a:rPr sz="1400">
                <a:solidFill>
                  <a:srgbClr val="0F172A"/>
                </a:solidFill>
                <a:latin typeface="Segoe UI"/>
              </a:rPr>
              <a:t>●  JWT-based authentication — secure, stateless login</a:t>
            </a:r>
          </a:p>
          <a:p>
            <a:pPr>
              <a:spcBef>
                <a:spcPts val="400"/>
              </a:spcBef>
            </a:pPr>
            <a:r>
              <a:rPr sz="1400">
                <a:solidFill>
                  <a:srgbClr val="0F172A"/>
                </a:solidFill>
                <a:latin typeface="Segoe UI"/>
              </a:rPr>
              <a:t>●  OTP-based login option for mobile users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6D28D9"/>
                </a:solidFill>
                <a:latin typeface="Segoe UI"/>
              </a:rPr>
              <a:t>📌 Example – Role in Action</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Mrs. Sharma logs in as a Teacher at DPS.
She can mark attendance, assign homework, and see her class students.
She CANNOT access fee invoices or admission applications — those are
visible only to School Admin and Super Admin.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People Management</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Students · Teachers · Parents – all in one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Student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Complete student lifecycle from admission to alumni</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Manage every student's complete profile: personal details, class, admission number, photo, blood group, Aadhaar, and parent links — all in one place.</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Add, edit, and search students by name, class, or status</a:t>
            </a:r>
          </a:p>
          <a:p>
            <a:pPr>
              <a:spcBef>
                <a:spcPts val="400"/>
              </a:spcBef>
            </a:pPr>
            <a:r>
              <a:rPr sz="1400">
                <a:solidFill>
                  <a:srgbClr val="0F172A"/>
                </a:solidFill>
                <a:latin typeface="Segoe UI"/>
              </a:rPr>
              <a:t>●  Student profile: DOB, gender, blood group, address, photo</a:t>
            </a:r>
          </a:p>
          <a:p>
            <a:pPr>
              <a:spcBef>
                <a:spcPts val="400"/>
              </a:spcBef>
            </a:pPr>
            <a:r>
              <a:rPr sz="1400">
                <a:solidFill>
                  <a:srgbClr val="0F172A"/>
                </a:solidFill>
                <a:latin typeface="Segoe UI"/>
              </a:rPr>
              <a:t>●  Assign students to class and section automatically</a:t>
            </a:r>
          </a:p>
          <a:p>
            <a:pPr>
              <a:spcBef>
                <a:spcPts val="400"/>
              </a:spcBef>
            </a:pPr>
            <a:r>
              <a:rPr sz="1400">
                <a:solidFill>
                  <a:srgbClr val="0F172A"/>
                </a:solidFill>
                <a:latin typeface="Segoe UI"/>
              </a:rPr>
              <a:t>●  Bulk import students via CSV upload</a:t>
            </a:r>
          </a:p>
          <a:p>
            <a:pPr>
              <a:spcBef>
                <a:spcPts val="400"/>
              </a:spcBef>
            </a:pPr>
            <a:r>
              <a:rPr sz="1400">
                <a:solidFill>
                  <a:srgbClr val="0F172A"/>
                </a:solidFill>
                <a:latin typeface="Segoe UI"/>
              </a:rPr>
              <a:t>●  Export student list to Excel / CSV</a:t>
            </a:r>
          </a:p>
          <a:p>
            <a:pPr>
              <a:spcBef>
                <a:spcPts val="400"/>
              </a:spcBef>
            </a:pPr>
            <a:r>
              <a:rPr sz="1400">
                <a:solidFill>
                  <a:srgbClr val="0F172A"/>
                </a:solidFill>
                <a:latin typeface="Segoe UI"/>
              </a:rPr>
              <a:t>●  Track admission number, joining date, and status (active/inactive/alumni)</a:t>
            </a:r>
          </a:p>
          <a:p>
            <a:pPr>
              <a:spcBef>
                <a:spcPts val="400"/>
              </a:spcBef>
            </a:pPr>
            <a:r>
              <a:rPr sz="1400">
                <a:solidFill>
                  <a:srgbClr val="0F172A"/>
                </a:solidFill>
                <a:latin typeface="Segoe UI"/>
              </a:rPr>
              <a:t>●  Link multiple students to one parent across different schools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10B981"/>
                </a:solidFill>
                <a:latin typeface="Segoe UI"/>
              </a:rPr>
              <a:t>📌 Example – Adding a New Student</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Admin adds Arjun Mehta (Age 10, Class 5-A) to DPS.
System assigns admission number: DPS-2024-0451.
Parent Rakesh Mehta is linked to Arjun — Rakesh can now see
Arjun's attendance, fees, and homework from the parent 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05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Teacher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Staff directory with qualifications and assignments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Maintain a complete directory of all teaching and non-teaching staff. Track qualifications, experience, department, and subject assignments.</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Add teacher profiles: name, employee ID, designation, department</a:t>
            </a:r>
          </a:p>
          <a:p>
            <a:pPr>
              <a:spcBef>
                <a:spcPts val="400"/>
              </a:spcBef>
            </a:pPr>
            <a:r>
              <a:rPr sz="1400">
                <a:solidFill>
                  <a:srgbClr val="0F172A"/>
                </a:solidFill>
                <a:latin typeface="Segoe UI"/>
              </a:rPr>
              <a:t>●  Record qualifications, experience years, and joining date</a:t>
            </a:r>
          </a:p>
          <a:p>
            <a:pPr>
              <a:spcBef>
                <a:spcPts val="400"/>
              </a:spcBef>
            </a:pPr>
            <a:r>
              <a:rPr sz="1400">
                <a:solidFill>
                  <a:srgbClr val="0F172A"/>
                </a:solidFill>
                <a:latin typeface="Segoe UI"/>
              </a:rPr>
              <a:t>●  Assign teachers to classes and subjects in the timetable</a:t>
            </a:r>
          </a:p>
          <a:p>
            <a:pPr>
              <a:spcBef>
                <a:spcPts val="400"/>
              </a:spcBef>
            </a:pPr>
            <a:r>
              <a:rPr sz="1400">
                <a:solidFill>
                  <a:srgbClr val="0F172A"/>
                </a:solidFill>
                <a:latin typeface="Segoe UI"/>
              </a:rPr>
              <a:t>●  Teachers can mark attendance and assign homework</a:t>
            </a:r>
          </a:p>
          <a:p>
            <a:pPr>
              <a:spcBef>
                <a:spcPts val="400"/>
              </a:spcBef>
            </a:pPr>
            <a:r>
              <a:rPr sz="1400">
                <a:solidFill>
                  <a:srgbClr val="0F172A"/>
                </a:solidFill>
                <a:latin typeface="Segoe UI"/>
              </a:rPr>
              <a:t>●  Bulk onboard teachers via CSV</a:t>
            </a:r>
          </a:p>
          <a:p>
            <a:pPr>
              <a:spcBef>
                <a:spcPts val="400"/>
              </a:spcBef>
            </a:pPr>
            <a:r>
              <a:rPr sz="1400">
                <a:solidFill>
                  <a:srgbClr val="0F172A"/>
                </a:solidFill>
                <a:latin typeface="Segoe UI"/>
              </a:rPr>
              <a:t>●  Teachers apply for leave through the system</a:t>
            </a:r>
          </a:p>
          <a:p>
            <a:pPr>
              <a:spcBef>
                <a:spcPts val="400"/>
              </a:spcBef>
            </a:pPr>
            <a:r>
              <a:rPr sz="1400">
                <a:solidFill>
                  <a:srgbClr val="0F172A"/>
                </a:solidFill>
                <a:latin typeface="Segoe UI"/>
              </a:rPr>
              <a:t>●  View teacher-wise timetable and workload</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05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059668"/>
                </a:solidFill>
                <a:latin typeface="Segoe UI"/>
              </a:rPr>
              <a:t>📌 Example – Teacher Onboarding</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Principal adds Mr. Rajesh Kumar – Maths teacher, B.Ed + M.Sc, 8 years experience.
He is assigned to Class 9A, 9B, and 10A for Mathematics.
He can now mark attendance for his classes and assign Maths homework
directly from the dashboard or mobile 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Parent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Keep parents informed and connected</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Parents have their own login to track their children's progress across schools. One parent account can monitor multiple children.</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Parent portal: view attendance, fees, homework, and announcements</a:t>
            </a:r>
          </a:p>
          <a:p>
            <a:pPr>
              <a:spcBef>
                <a:spcPts val="400"/>
              </a:spcBef>
            </a:pPr>
            <a:r>
              <a:rPr sz="1400">
                <a:solidFill>
                  <a:srgbClr val="0F172A"/>
                </a:solidFill>
                <a:latin typeface="Segoe UI"/>
              </a:rPr>
              <a:t>●  One parent can link children from different schools</a:t>
            </a:r>
          </a:p>
          <a:p>
            <a:pPr>
              <a:spcBef>
                <a:spcPts val="400"/>
              </a:spcBef>
            </a:pPr>
            <a:r>
              <a:rPr sz="1400">
                <a:solidFill>
                  <a:srgbClr val="0F172A"/>
                </a:solidFill>
                <a:latin typeface="Segoe UI"/>
              </a:rPr>
              <a:t>●  Receive fee payment reminders and due date alerts</a:t>
            </a:r>
          </a:p>
          <a:p>
            <a:pPr>
              <a:spcBef>
                <a:spcPts val="400"/>
              </a:spcBef>
            </a:pPr>
            <a:r>
              <a:rPr sz="1400">
                <a:solidFill>
                  <a:srgbClr val="0F172A"/>
                </a:solidFill>
                <a:latin typeface="Segoe UI"/>
              </a:rPr>
              <a:t>●  Raise queries and get replies from school admin</a:t>
            </a:r>
          </a:p>
          <a:p>
            <a:pPr>
              <a:spcBef>
                <a:spcPts val="400"/>
              </a:spcBef>
            </a:pPr>
            <a:r>
              <a:rPr sz="1400">
                <a:solidFill>
                  <a:srgbClr val="0F172A"/>
                </a:solidFill>
                <a:latin typeface="Segoe UI"/>
              </a:rPr>
              <a:t>●  View child's leave status and academic calendar</a:t>
            </a:r>
          </a:p>
          <a:p>
            <a:pPr>
              <a:spcBef>
                <a:spcPts val="400"/>
              </a:spcBef>
            </a:pPr>
            <a:r>
              <a:rPr sz="1400">
                <a:solidFill>
                  <a:srgbClr val="0F172A"/>
                </a:solidFill>
                <a:latin typeface="Segoe UI"/>
              </a:rPr>
              <a:t>●  Mobile app with real-time notifications</a:t>
            </a:r>
          </a:p>
          <a:p>
            <a:pPr>
              <a:spcBef>
                <a:spcPts val="400"/>
              </a:spcBef>
            </a:pPr>
            <a:r>
              <a:rPr sz="1400">
                <a:solidFill>
                  <a:srgbClr val="0F172A"/>
                </a:solidFill>
                <a:latin typeface="Segoe UI"/>
              </a:rPr>
              <a:t>●  Bulk parent import via CSV</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DB2777"/>
                </a:solidFill>
                <a:latin typeface="Segoe UI"/>
              </a:rPr>
              <a:t>📌 Example – Parent Portal</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Priya Verma has two children — one in DPS (Class 6) and one in Ryan International (Class 3).
She logs into Yulaa once and sees BOTH children's dashboards.
She pays DPS fees online and sees Ryan's attendance calendar — all from one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Academic Operations</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Attendance · Homework · Timetable · Syllabus · Exams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Attendance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Daily, monthly, and calendar views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Teachers mark attendance class-by-class every day. Admins get monthly reports and calendar views. Parents see their child's attendance instantly.</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Mark Present / Absent / Late with a single tap</a:t>
            </a:r>
          </a:p>
          <a:p>
            <a:pPr>
              <a:spcBef>
                <a:spcPts val="400"/>
              </a:spcBef>
            </a:pPr>
            <a:r>
              <a:rPr sz="1400">
                <a:solidFill>
                  <a:srgbClr val="0F172A"/>
                </a:solidFill>
                <a:latin typeface="Segoe UI"/>
              </a:rPr>
              <a:t>●  "Mark All Present" button for quick bulk marking</a:t>
            </a:r>
          </a:p>
          <a:p>
            <a:pPr>
              <a:spcBef>
                <a:spcPts val="400"/>
              </a:spcBef>
            </a:pPr>
            <a:r>
              <a:rPr sz="1400">
                <a:solidFill>
                  <a:srgbClr val="0F172A"/>
                </a:solidFill>
                <a:latin typeface="Segoe UI"/>
              </a:rPr>
              <a:t>●  Edit attendance even after it is submitted</a:t>
            </a:r>
          </a:p>
          <a:p>
            <a:pPr>
              <a:spcBef>
                <a:spcPts val="400"/>
              </a:spcBef>
            </a:pPr>
            <a:r>
              <a:rPr sz="1400">
                <a:solidFill>
                  <a:srgbClr val="0F172A"/>
                </a:solidFill>
                <a:latin typeface="Segoe UI"/>
              </a:rPr>
              <a:t>●  Monthly attendance calendar view per student</a:t>
            </a:r>
          </a:p>
          <a:p>
            <a:pPr>
              <a:spcBef>
                <a:spcPts val="400"/>
              </a:spcBef>
            </a:pPr>
            <a:r>
              <a:rPr sz="1400">
                <a:solidFill>
                  <a:srgbClr val="0F172A"/>
                </a:solidFill>
                <a:latin typeface="Segoe UI"/>
              </a:rPr>
              <a:t>●  Attendance percentage calculated automatically</a:t>
            </a:r>
          </a:p>
          <a:p>
            <a:pPr>
              <a:spcBef>
                <a:spcPts val="400"/>
              </a:spcBef>
            </a:pPr>
            <a:r>
              <a:rPr sz="1400">
                <a:solidFill>
                  <a:srgbClr val="0F172A"/>
                </a:solidFill>
                <a:latin typeface="Segoe UI"/>
              </a:rPr>
              <a:t>●  Check-in / check-out time tracking for staff</a:t>
            </a:r>
          </a:p>
          <a:p>
            <a:pPr>
              <a:spcBef>
                <a:spcPts val="400"/>
              </a:spcBef>
            </a:pPr>
            <a:r>
              <a:rPr sz="1400">
                <a:solidFill>
                  <a:srgbClr val="0F172A"/>
                </a:solidFill>
                <a:latin typeface="Segoe UI"/>
              </a:rPr>
              <a:t>●  Holiday calendar integration — no attendance on holidays</a:t>
            </a:r>
          </a:p>
          <a:p>
            <a:pPr>
              <a:spcBef>
                <a:spcPts val="400"/>
              </a:spcBef>
            </a:pPr>
            <a:r>
              <a:rPr sz="1400">
                <a:solidFill>
                  <a:srgbClr val="0F172A"/>
                </a:solidFill>
                <a:latin typeface="Segoe UI"/>
              </a:rPr>
              <a:t>●  Export monthly attendance reports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F59E0B"/>
                </a:solidFill>
                <a:latin typeface="Segoe UI"/>
              </a:rPr>
              <a:t>📌 Example – Daily Attendance</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Mrs. Sharma opens Class 9A at 9:00 AM on Monday.
She clicks 'Mark All Present', then marks 2 students Late and 1 Absent.
Parents of absent students get a notification immediately.
The admin dashboard shows 94% attendance for Class 9A today.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Homework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Assign, track, and submit homework digitally</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Teachers assign homework to a class for a subject with a due date. Students and parents see it on the app. Submission counts are tracked automatically.</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Assign homework per class, section, and subject</a:t>
            </a:r>
          </a:p>
          <a:p>
            <a:pPr>
              <a:spcBef>
                <a:spcPts val="400"/>
              </a:spcBef>
            </a:pPr>
            <a:r>
              <a:rPr sz="1400">
                <a:solidFill>
                  <a:srgbClr val="0F172A"/>
                </a:solidFill>
                <a:latin typeface="Segoe UI"/>
              </a:rPr>
              <a:t>●  Set due date — overdue tasks are highlighted in red</a:t>
            </a:r>
          </a:p>
          <a:p>
            <a:pPr>
              <a:spcBef>
                <a:spcPts val="400"/>
              </a:spcBef>
            </a:pPr>
            <a:r>
              <a:rPr sz="1400">
                <a:solidFill>
                  <a:srgbClr val="0F172A"/>
                </a:solidFill>
                <a:latin typeface="Segoe UI"/>
              </a:rPr>
              <a:t>●  Track number of submissions received</a:t>
            </a:r>
          </a:p>
          <a:p>
            <a:pPr>
              <a:spcBef>
                <a:spcPts val="400"/>
              </a:spcBef>
            </a:pPr>
            <a:r>
              <a:rPr sz="1400">
                <a:solidFill>
                  <a:srgbClr val="0F172A"/>
                </a:solidFill>
                <a:latin typeface="Segoe UI"/>
              </a:rPr>
              <a:t>●  Students view pending and completed homework on the app</a:t>
            </a:r>
          </a:p>
          <a:p>
            <a:pPr>
              <a:spcBef>
                <a:spcPts val="400"/>
              </a:spcBef>
            </a:pPr>
            <a:r>
              <a:rPr sz="1400">
                <a:solidFill>
                  <a:srgbClr val="0F172A"/>
                </a:solidFill>
                <a:latin typeface="Segoe UI"/>
              </a:rPr>
              <a:t>●  Teachers can attach notes or instructions</a:t>
            </a:r>
          </a:p>
          <a:p>
            <a:pPr>
              <a:spcBef>
                <a:spcPts val="400"/>
              </a:spcBef>
            </a:pPr>
            <a:r>
              <a:rPr sz="1400">
                <a:solidFill>
                  <a:srgbClr val="0F172A"/>
                </a:solidFill>
                <a:latin typeface="Segoe UI"/>
              </a:rPr>
              <a:t>●  Parents see their child's homework from the parent portal</a:t>
            </a:r>
          </a:p>
          <a:p>
            <a:pPr>
              <a:spcBef>
                <a:spcPts val="400"/>
              </a:spcBef>
            </a:pPr>
            <a:r>
              <a:rPr sz="1400">
                <a:solidFill>
                  <a:srgbClr val="0F172A"/>
                </a:solidFill>
                <a:latin typeface="Segoe UI"/>
              </a:rPr>
              <a:t>●  Filter homework by class, subject, or status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F59E0B"/>
                </a:solidFill>
                <a:latin typeface="Segoe UI"/>
              </a:rPr>
              <a:t>📌 Example – Assigning Homework</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Mr. Rajesh assigns: 'Solve exercises 5.1 – 5.5 from NCERT Math textbook'
to Class 9A, due Friday.
38 students see it on their app. By Thursday, 30 have submitted.
Mr. Rajesh sees '30/38 submitted' and follows up with the remaining 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0678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Timetable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Weekly class schedule with teacher assignments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Create and manage the weekly timetable for every class. Assign teachers to periods. Teachers can see their personal schedule, and changes are logged.</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timetable for each class: periods, subjects, teachers</a:t>
            </a:r>
          </a:p>
          <a:p>
            <a:pPr>
              <a:spcBef>
                <a:spcPts val="400"/>
              </a:spcBef>
            </a:pPr>
            <a:r>
              <a:rPr sz="1400">
                <a:solidFill>
                  <a:srgbClr val="0F172A"/>
                </a:solidFill>
                <a:latin typeface="Segoe UI"/>
              </a:rPr>
              <a:t>●  Drag-and-drop style period assignment</a:t>
            </a:r>
          </a:p>
          <a:p>
            <a:pPr>
              <a:spcBef>
                <a:spcPts val="400"/>
              </a:spcBef>
            </a:pPr>
            <a:r>
              <a:rPr sz="1400">
                <a:solidFill>
                  <a:srgbClr val="0F172A"/>
                </a:solidFill>
                <a:latin typeface="Segoe UI"/>
              </a:rPr>
              <a:t>●  View teacher-wise timetable across all classes</a:t>
            </a:r>
          </a:p>
          <a:p>
            <a:pPr>
              <a:spcBef>
                <a:spcPts val="400"/>
              </a:spcBef>
            </a:pPr>
            <a:r>
              <a:rPr sz="1400">
                <a:solidFill>
                  <a:srgbClr val="0F172A"/>
                </a:solidFill>
                <a:latin typeface="Segoe UI"/>
              </a:rPr>
              <a:t>●  Reassign periods when a teacher is on leave</a:t>
            </a:r>
          </a:p>
          <a:p>
            <a:pPr>
              <a:spcBef>
                <a:spcPts val="400"/>
              </a:spcBef>
            </a:pPr>
            <a:r>
              <a:rPr sz="1400">
                <a:solidFill>
                  <a:srgbClr val="0F172A"/>
                </a:solidFill>
                <a:latin typeface="Segoe UI"/>
              </a:rPr>
              <a:t>●  Every timetable change is logged with reason and actor</a:t>
            </a:r>
          </a:p>
          <a:p>
            <a:pPr>
              <a:spcBef>
                <a:spcPts val="400"/>
              </a:spcBef>
            </a:pPr>
            <a:r>
              <a:rPr sz="1400">
                <a:solidFill>
                  <a:srgbClr val="0F172A"/>
                </a:solidFill>
                <a:latin typeface="Segoe UI"/>
              </a:rPr>
              <a:t>●  Students and teachers see today's schedule on the mobile app</a:t>
            </a:r>
          </a:p>
          <a:p>
            <a:pPr>
              <a:spcBef>
                <a:spcPts val="400"/>
              </a:spcBef>
            </a:pPr>
            <a:r>
              <a:rPr sz="1400">
                <a:solidFill>
                  <a:srgbClr val="0F172A"/>
                </a:solidFill>
                <a:latin typeface="Segoe UI"/>
              </a:rPr>
              <a:t>●  Holiday-aware: no classes on holidays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0678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0678B2"/>
                </a:solidFill>
                <a:latin typeface="Segoe UI"/>
              </a:rPr>
              <a:t>📌 Example – Timetable in Action</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Class 9A has: Mon-Period 1 = Maths (Mr. Rajesh), Period 2 = English (Mrs. Priya)...
Mr. Rajesh is on leave on Wednesday. Admin reassigns his periods to Mr. Suresh.
The change is logged: 'Reason: Medical leave. Changed by: Principal Gupta.'
Students and Mr. Suresh both see the updated schedule on their phones.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Syllabus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Topic-wise curriculum tracker</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Teachers plan and track what topics have been taught. Admin and parents can see the syllabus coverage. Stay on track throughout the academic year.</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Add syllabus items: subject, topic, chapter, target date</a:t>
            </a:r>
          </a:p>
          <a:p>
            <a:pPr>
              <a:spcBef>
                <a:spcPts val="400"/>
              </a:spcBef>
            </a:pPr>
            <a:r>
              <a:rPr sz="1400">
                <a:solidFill>
                  <a:srgbClr val="0F172A"/>
                </a:solidFill>
                <a:latin typeface="Segoe UI"/>
              </a:rPr>
              <a:t>●  Teachers mark topics as completed with actual completion date</a:t>
            </a:r>
          </a:p>
          <a:p>
            <a:pPr>
              <a:spcBef>
                <a:spcPts val="400"/>
              </a:spcBef>
            </a:pPr>
            <a:r>
              <a:rPr sz="1400">
                <a:solidFill>
                  <a:srgbClr val="0F172A"/>
                </a:solidFill>
                <a:latin typeface="Segoe UI"/>
              </a:rPr>
              <a:t>●  View syllabus coverage percentage per subject</a:t>
            </a:r>
          </a:p>
          <a:p>
            <a:pPr>
              <a:spcBef>
                <a:spcPts val="400"/>
              </a:spcBef>
            </a:pPr>
            <a:r>
              <a:rPr sz="1400">
                <a:solidFill>
                  <a:srgbClr val="0F172A"/>
                </a:solidFill>
                <a:latin typeface="Segoe UI"/>
              </a:rPr>
              <a:t>●  Assign syllabus items to specific teachers</a:t>
            </a:r>
          </a:p>
          <a:p>
            <a:pPr>
              <a:spcBef>
                <a:spcPts val="400"/>
              </a:spcBef>
            </a:pPr>
            <a:r>
              <a:rPr sz="1400">
                <a:solidFill>
                  <a:srgbClr val="0F172A"/>
                </a:solidFill>
                <a:latin typeface="Segoe UI"/>
              </a:rPr>
              <a:t>●  Colour-coded: on-track, behind schedule, completed</a:t>
            </a:r>
          </a:p>
          <a:p>
            <a:pPr>
              <a:spcBef>
                <a:spcPts val="400"/>
              </a:spcBef>
            </a:pPr>
            <a:r>
              <a:rPr sz="1400">
                <a:solidFill>
                  <a:srgbClr val="0F172A"/>
                </a:solidFill>
                <a:latin typeface="Segoe UI"/>
              </a:rPr>
              <a:t>●  Academic year cycle management</a:t>
            </a:r>
          </a:p>
          <a:p>
            <a:pPr>
              <a:spcBef>
                <a:spcPts val="400"/>
              </a:spcBef>
            </a:pPr>
            <a:r>
              <a:rPr sz="1400">
                <a:solidFill>
                  <a:srgbClr val="0F172A"/>
                </a:solidFill>
                <a:latin typeface="Segoe UI"/>
              </a:rPr>
              <a:t>●  Integrates with exam planning</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7C3AED"/>
                </a:solidFill>
                <a:latin typeface="Segoe UI"/>
              </a:rPr>
              <a:t>📌 Example – Syllabus Tracking</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For Class 10 Maths, the syllabus has 12 chapters planned for the year.
By October, Mr. Rajesh has marked 7 chapters as 'completed'.
Admin sees 58% coverage — on track for the midterm exam in November.
Chapter 8 is flagged 'behind schedule' — admin can follow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Exam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Schedule exams and record results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Plan exams for classes and subjects. Record results and generate performance reports. Parents see their child's grades on the app.</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exams: name, type (unit test / midterm / annual), date, class, subject</a:t>
            </a:r>
          </a:p>
          <a:p>
            <a:pPr>
              <a:spcBef>
                <a:spcPts val="400"/>
              </a:spcBef>
            </a:pPr>
            <a:r>
              <a:rPr sz="1400">
                <a:solidFill>
                  <a:srgbClr val="0F172A"/>
                </a:solidFill>
                <a:latin typeface="Segoe UI"/>
              </a:rPr>
              <a:t>●  Multiple exam types configurable (MCQ, written, practical, etc.)</a:t>
            </a:r>
          </a:p>
          <a:p>
            <a:pPr>
              <a:spcBef>
                <a:spcPts val="400"/>
              </a:spcBef>
            </a:pPr>
            <a:r>
              <a:rPr sz="1400">
                <a:solidFill>
                  <a:srgbClr val="0F172A"/>
                </a:solidFill>
                <a:latin typeface="Segoe UI"/>
              </a:rPr>
              <a:t>●  Enter marks for each student after the exam</a:t>
            </a:r>
          </a:p>
          <a:p>
            <a:pPr>
              <a:spcBef>
                <a:spcPts val="400"/>
              </a:spcBef>
            </a:pPr>
            <a:r>
              <a:rPr sz="1400">
                <a:solidFill>
                  <a:srgbClr val="0F172A"/>
                </a:solidFill>
                <a:latin typeface="Segoe UI"/>
              </a:rPr>
              <a:t>●  Auto-calculate grades using grading type config</a:t>
            </a:r>
          </a:p>
          <a:p>
            <a:pPr>
              <a:spcBef>
                <a:spcPts val="400"/>
              </a:spcBef>
            </a:pPr>
            <a:r>
              <a:rPr sz="1400">
                <a:solidFill>
                  <a:srgbClr val="0F172A"/>
                </a:solidFill>
                <a:latin typeface="Segoe UI"/>
              </a:rPr>
              <a:t>●  Performance reports per student, class, and subject</a:t>
            </a:r>
          </a:p>
          <a:p>
            <a:pPr>
              <a:spcBef>
                <a:spcPts val="400"/>
              </a:spcBef>
            </a:pPr>
            <a:r>
              <a:rPr sz="1400">
                <a:solidFill>
                  <a:srgbClr val="0F172A"/>
                </a:solidFill>
                <a:latin typeface="Segoe UI"/>
              </a:rPr>
              <a:t>●  Compare performance across terms</a:t>
            </a:r>
          </a:p>
          <a:p>
            <a:pPr>
              <a:spcBef>
                <a:spcPts val="400"/>
              </a:spcBef>
            </a:pPr>
            <a:r>
              <a:rPr sz="1400">
                <a:solidFill>
                  <a:srgbClr val="0F172A"/>
                </a:solidFill>
                <a:latin typeface="Segoe UI"/>
              </a:rPr>
              <a:t>●  Export results to PDF or Excel</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DC2626"/>
                </a:solidFill>
                <a:latin typeface="Segoe UI"/>
              </a:rPr>
              <a:t>📌 Example – Exam Flow</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Admin schedules 'Unit Test 1 – Mathematics – Class 9A' for 15 Nov.
After the exam, Mr. Rajesh enters marks: Arjun = 45/50, Priya = 38/50...
System auto-grades: A+, B+ etc. based on the school's grading scale.
Parents see their child's result on the mobile app that evening.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145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Fee Management</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Invoices · Payments · Reminders · PDF Export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Fee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Invoices, payments, and collection tracking</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Create fee structures, generate invoices for students, record payments, and track outstanding dues — all with PDF export and payment reminders.</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Define fee structures: tuition, transport, activity, etc.</a:t>
            </a:r>
          </a:p>
          <a:p>
            <a:pPr>
              <a:spcBef>
                <a:spcPts val="400"/>
              </a:spcBef>
            </a:pPr>
            <a:r>
              <a:rPr sz="1400">
                <a:solidFill>
                  <a:srgbClr val="0F172A"/>
                </a:solidFill>
                <a:latin typeface="Segoe UI"/>
              </a:rPr>
              <a:t>●  Generate individual or bulk invoices for students</a:t>
            </a:r>
          </a:p>
          <a:p>
            <a:pPr>
              <a:spcBef>
                <a:spcPts val="400"/>
              </a:spcBef>
            </a:pPr>
            <a:r>
              <a:rPr sz="1400">
                <a:solidFill>
                  <a:srgbClr val="0F172A"/>
                </a:solidFill>
                <a:latin typeface="Segoe UI"/>
              </a:rPr>
              <a:t>●  Record payments: cash, UPI, bank transfer — with transaction reference</a:t>
            </a:r>
          </a:p>
          <a:p>
            <a:pPr>
              <a:spcBef>
                <a:spcPts val="400"/>
              </a:spcBef>
            </a:pPr>
            <a:r>
              <a:rPr sz="1400">
                <a:solidFill>
                  <a:srgbClr val="0F172A"/>
                </a:solidFill>
                <a:latin typeface="Segoe UI"/>
              </a:rPr>
              <a:t>●  Status tracking: Paid / Unpaid / Partial / Overdue</a:t>
            </a:r>
          </a:p>
          <a:p>
            <a:pPr>
              <a:spcBef>
                <a:spcPts val="400"/>
              </a:spcBef>
            </a:pPr>
            <a:r>
              <a:rPr sz="1400">
                <a:solidFill>
                  <a:srgbClr val="0F172A"/>
                </a:solidFill>
                <a:latin typeface="Segoe UI"/>
              </a:rPr>
              <a:t>●  Summary dashboard: total collected, pending, overdue count</a:t>
            </a:r>
          </a:p>
          <a:p>
            <a:pPr>
              <a:spcBef>
                <a:spcPts val="400"/>
              </a:spcBef>
            </a:pPr>
            <a:r>
              <a:rPr sz="1400">
                <a:solidFill>
                  <a:srgbClr val="0F172A"/>
                </a:solidFill>
                <a:latin typeface="Segoe UI"/>
              </a:rPr>
              <a:t>●  Send fee reminders via notifications</a:t>
            </a:r>
          </a:p>
          <a:p>
            <a:pPr>
              <a:spcBef>
                <a:spcPts val="400"/>
              </a:spcBef>
            </a:pPr>
            <a:r>
              <a:rPr sz="1400">
                <a:solidFill>
                  <a:srgbClr val="0F172A"/>
                </a:solidFill>
                <a:latin typeface="Segoe UI"/>
              </a:rPr>
              <a:t>●  Export invoices as PDF (downloadable)</a:t>
            </a:r>
          </a:p>
          <a:p>
            <a:pPr>
              <a:spcBef>
                <a:spcPts val="400"/>
              </a:spcBef>
            </a:pPr>
            <a:r>
              <a:rPr sz="1400">
                <a:solidFill>
                  <a:srgbClr val="0F172A"/>
                </a:solidFill>
                <a:latin typeface="Segoe UI"/>
              </a:rPr>
              <a:t>●  Upload bulk fee data via CSV</a:t>
            </a:r>
          </a:p>
          <a:p>
            <a:pPr>
              <a:spcBef>
                <a:spcPts val="400"/>
              </a:spcBef>
            </a:pPr>
            <a:r>
              <a:rPr sz="1400">
                <a:solidFill>
                  <a:srgbClr val="0F172A"/>
                </a:solidFill>
                <a:latin typeface="Segoe UI"/>
              </a:rPr>
              <a:t>●  Instalment-based fee collection supported</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10B981"/>
                </a:solidFill>
                <a:latin typeface="Segoe UI"/>
              </a:rPr>
              <a:t>📌 Example – Fee Collection</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Admin generates Term 2 fees for all 800 students of DPS.
Invoice No. INV-2024-0923 for Arjun Mehta: ₹24,500 due by 30 Nov.
Parent pays ₹24,500 via UPI — admin records payment. Status → Paid.
Admin can export a PDF receipt and send it to the parent.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3B1F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Admissions</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Online Applications · Workflow Approvals · Auto-Provisioning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Admission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From online application to student creation</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Parents apply online for their child's admission. The school reviews the application through a configurable multi-step workflow. On approval, a student account is automatically created.</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Public admission form — no login required for parents to apply</a:t>
            </a:r>
          </a:p>
          <a:p>
            <a:pPr>
              <a:spcBef>
                <a:spcPts val="400"/>
              </a:spcBef>
            </a:pPr>
            <a:r>
              <a:rPr sz="1400">
                <a:solidFill>
                  <a:srgbClr val="0F172A"/>
                </a:solidFill>
                <a:latin typeface="Segoe UI"/>
              </a:rPr>
              <a:t>●  OTP verification for parent identity during application</a:t>
            </a:r>
          </a:p>
          <a:p>
            <a:pPr>
              <a:spcBef>
                <a:spcPts val="400"/>
              </a:spcBef>
            </a:pPr>
            <a:r>
              <a:rPr sz="1400">
                <a:solidFill>
                  <a:srgbClr val="0F172A"/>
                </a:solidFill>
                <a:latin typeface="Segoe UI"/>
              </a:rPr>
              <a:t>●  Submit details for multiple children in one application</a:t>
            </a:r>
          </a:p>
          <a:p>
            <a:pPr>
              <a:spcBef>
                <a:spcPts val="400"/>
              </a:spcBef>
            </a:pPr>
            <a:r>
              <a:rPr sz="1400">
                <a:solidFill>
                  <a:srgbClr val="0F172A"/>
                </a:solidFill>
                <a:latin typeface="Segoe UI"/>
              </a:rPr>
              <a:t>●  Configurable approval workflow: e.g., Coordinator → Vice Principal → Principal</a:t>
            </a:r>
          </a:p>
          <a:p>
            <a:pPr>
              <a:spcBef>
                <a:spcPts val="400"/>
              </a:spcBef>
            </a:pPr>
            <a:r>
              <a:rPr sz="1400">
                <a:solidFill>
                  <a:srgbClr val="0F172A"/>
                </a:solidFill>
                <a:latin typeface="Segoe UI"/>
              </a:rPr>
              <a:t>●  Each step notifies the approver; action is logged with comments</a:t>
            </a:r>
          </a:p>
          <a:p>
            <a:pPr>
              <a:spcBef>
                <a:spcPts val="400"/>
              </a:spcBef>
            </a:pPr>
            <a:r>
              <a:rPr sz="1400">
                <a:solidFill>
                  <a:srgbClr val="0F172A"/>
                </a:solidFill>
                <a:latin typeface="Segoe UI"/>
              </a:rPr>
              <a:t>●  Risk scoring and validation flags on applications</a:t>
            </a:r>
          </a:p>
          <a:p>
            <a:pPr>
              <a:spcBef>
                <a:spcPts val="400"/>
              </a:spcBef>
            </a:pPr>
            <a:r>
              <a:rPr sz="1400">
                <a:solidFill>
                  <a:srgbClr val="0F172A"/>
                </a:solidFill>
                <a:latin typeface="Segoe UI"/>
              </a:rPr>
              <a:t>●  On approval: student record + parent account auto-created</a:t>
            </a:r>
          </a:p>
          <a:p>
            <a:pPr>
              <a:spcBef>
                <a:spcPts val="400"/>
              </a:spcBef>
            </a:pPr>
            <a:r>
              <a:rPr sz="1400">
                <a:solidFill>
                  <a:srgbClr val="0F172A"/>
                </a:solidFill>
                <a:latin typeface="Segoe UI"/>
              </a:rPr>
              <a:t>●  Admin can view all applications: pending, approved, rejected</a:t>
            </a:r>
          </a:p>
          <a:p>
            <a:pPr>
              <a:spcBef>
                <a:spcPts val="400"/>
              </a:spcBef>
            </a:pPr>
            <a:r>
              <a:rPr sz="1400">
                <a:solidFill>
                  <a:srgbClr val="0F172A"/>
                </a:solidFill>
                <a:latin typeface="Segoe UI"/>
              </a:rPr>
              <a:t>●  Search and filter applications by name, class, status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6D28D9"/>
                </a:solidFill>
                <a:latin typeface="Segoe UI"/>
              </a:rPr>
              <a:t>📌 Example – Admission Process</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Parent Rakesh Mehta fills the online form for his son Arjun (applying for Grade 5).
Step 1: Coordinator reviews → approves. Step 2: Principal reviews → approves.
System auto-creates: Student record (Arjun, Grade 5A) + Parent login for Rakesh.
Rakesh gets a welcome SMS with his login credentials.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1C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Leave Management</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Apply · Approve · Balance Tracking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0278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Leave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Multi-step leave approval with balance tracking</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Teachers and staff apply for leave online. The request goes through a multi-step approval workflow. Leave balances are tracked automatically per leave type.</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Teachers apply for leave: type, date range, reason</a:t>
            </a:r>
          </a:p>
          <a:p>
            <a:pPr>
              <a:spcBef>
                <a:spcPts val="400"/>
              </a:spcBef>
            </a:pPr>
            <a:r>
              <a:rPr sz="1400">
                <a:solidFill>
                  <a:srgbClr val="0F172A"/>
                </a:solidFill>
                <a:latin typeface="Segoe UI"/>
              </a:rPr>
              <a:t>●  Leave types: casual, sick, earned, maternity, etc. (configurable)</a:t>
            </a:r>
          </a:p>
          <a:p>
            <a:pPr>
              <a:spcBef>
                <a:spcPts val="400"/>
              </a:spcBef>
            </a:pPr>
            <a:r>
              <a:rPr sz="1400">
                <a:solidFill>
                  <a:srgbClr val="0F172A"/>
                </a:solidFill>
                <a:latin typeface="Segoe UI"/>
              </a:rPr>
              <a:t>●  Multi-step approval workflow (e.g., HOD → Principal)</a:t>
            </a:r>
          </a:p>
          <a:p>
            <a:pPr>
              <a:spcBef>
                <a:spcPts val="400"/>
              </a:spcBef>
            </a:pPr>
            <a:r>
              <a:rPr sz="1400">
                <a:solidFill>
                  <a:srgbClr val="0F172A"/>
                </a:solidFill>
                <a:latin typeface="Segoe UI"/>
              </a:rPr>
              <a:t>●  Each approver gets a notification; can approve or reject with comment</a:t>
            </a:r>
          </a:p>
          <a:p>
            <a:pPr>
              <a:spcBef>
                <a:spcPts val="400"/>
              </a:spcBef>
            </a:pPr>
            <a:r>
              <a:rPr sz="1400">
                <a:solidFill>
                  <a:srgbClr val="0F172A"/>
                </a:solidFill>
                <a:latin typeface="Segoe UI"/>
              </a:rPr>
              <a:t>●  Leave balance policy: each type has a quota per year</a:t>
            </a:r>
          </a:p>
          <a:p>
            <a:pPr>
              <a:spcBef>
                <a:spcPts val="400"/>
              </a:spcBef>
            </a:pPr>
            <a:r>
              <a:rPr sz="1400">
                <a:solidFill>
                  <a:srgbClr val="0F172A"/>
                </a:solidFill>
                <a:latin typeface="Segoe UI"/>
              </a:rPr>
              <a:t>●  Auto-deduct from balance on approval; restore on rejection</a:t>
            </a:r>
          </a:p>
          <a:p>
            <a:pPr>
              <a:spcBef>
                <a:spcPts val="400"/>
              </a:spcBef>
            </a:pPr>
            <a:r>
              <a:rPr sz="1400">
                <a:solidFill>
                  <a:srgbClr val="0F172A"/>
                </a:solidFill>
                <a:latin typeface="Segoe UI"/>
              </a:rPr>
              <a:t>●  Holiday-aware: only working days counted in leave duration</a:t>
            </a:r>
          </a:p>
          <a:p>
            <a:pPr>
              <a:spcBef>
                <a:spcPts val="400"/>
              </a:spcBef>
            </a:pPr>
            <a:r>
              <a:rPr sz="1400">
                <a:solidFill>
                  <a:srgbClr val="0F172A"/>
                </a:solidFill>
                <a:latin typeface="Segoe UI"/>
              </a:rPr>
              <a:t>●  Admin can view all leave requests with full action history</a:t>
            </a:r>
          </a:p>
          <a:p>
            <a:pPr>
              <a:spcBef>
                <a:spcPts val="400"/>
              </a:spcBef>
            </a:pPr>
            <a:r>
              <a:rPr sz="1400">
                <a:solidFill>
                  <a:srgbClr val="0F172A"/>
                </a:solidFill>
                <a:latin typeface="Segoe UI"/>
              </a:rPr>
              <a:t>●  Students can also submit leave applications via parent</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0278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0278BD"/>
                </a:solidFill>
                <a:latin typeface="Segoe UI"/>
              </a:rPr>
              <a:t>📌 Example – Leave Request Flow</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Mr. Rajesh applies for Sick Leave from 10–12 Jan (3 days).
HOD Mrs. Patel approves. Principal Mr. Sharma approves.
Leave balance updated: Sick Leave remaining = 7 days (was 10).
Admin sees the full log: 'Approved by HOD at 10:15 AM, Principal at 11:30 AM.'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Communication</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Announcements · Queries · Notifications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Announcements</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School-wide and targeted communications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School admin posts announcements for different audiences — all students, specific classes, teachers only, or parents. Important notices are highlighted as urgent.</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announcements with title, message, and type</a:t>
            </a:r>
          </a:p>
          <a:p>
            <a:pPr>
              <a:spcBef>
                <a:spcPts val="400"/>
              </a:spcBef>
            </a:pPr>
            <a:r>
              <a:rPr sz="1400">
                <a:solidFill>
                  <a:srgbClr val="0F172A"/>
                </a:solidFill>
                <a:latin typeface="Segoe UI"/>
              </a:rPr>
              <a:t>●  Types: General, Urgent, Event, Holiday, Exam, Fee Reminder</a:t>
            </a:r>
          </a:p>
          <a:p>
            <a:pPr>
              <a:spcBef>
                <a:spcPts val="400"/>
              </a:spcBef>
            </a:pPr>
            <a:r>
              <a:rPr sz="1400">
                <a:solidFill>
                  <a:srgbClr val="0F172A"/>
                </a:solidFill>
                <a:latin typeface="Segoe UI"/>
              </a:rPr>
              <a:t>●  Target specific audience: all, teachers, parents, students, specific class</a:t>
            </a:r>
          </a:p>
          <a:p>
            <a:pPr>
              <a:spcBef>
                <a:spcPts val="400"/>
              </a:spcBef>
            </a:pPr>
            <a:r>
              <a:rPr sz="1400">
                <a:solidFill>
                  <a:srgbClr val="0F172A"/>
                </a:solidFill>
                <a:latin typeface="Segoe UI"/>
              </a:rPr>
              <a:t>●  Students, parents, and teachers see announcements on their dashboard/app</a:t>
            </a:r>
          </a:p>
          <a:p>
            <a:pPr>
              <a:spcBef>
                <a:spcPts val="400"/>
              </a:spcBef>
            </a:pPr>
            <a:r>
              <a:rPr sz="1400">
                <a:solidFill>
                  <a:srgbClr val="0F172A"/>
                </a:solidFill>
                <a:latin typeface="Segoe UI"/>
              </a:rPr>
              <a:t>●  Urgent announcements shown with a red banner</a:t>
            </a:r>
          </a:p>
          <a:p>
            <a:pPr>
              <a:spcBef>
                <a:spcPts val="400"/>
              </a:spcBef>
            </a:pPr>
            <a:r>
              <a:rPr sz="1400">
                <a:solidFill>
                  <a:srgbClr val="0F172A"/>
                </a:solidFill>
                <a:latin typeface="Segoe UI"/>
              </a:rPr>
              <a:t>●  Filter and search past announcements</a:t>
            </a:r>
          </a:p>
          <a:p>
            <a:pPr>
              <a:spcBef>
                <a:spcPts val="400"/>
              </a:spcBef>
            </a:pPr>
            <a:r>
              <a:rPr sz="1400">
                <a:solidFill>
                  <a:srgbClr val="0F172A"/>
                </a:solidFill>
                <a:latin typeface="Segoe UI"/>
              </a:rPr>
              <a:t>●  Customisable announcement types via Masters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FF6B35"/>
                </a:solidFill>
                <a:latin typeface="Segoe UI"/>
              </a:rPr>
              <a:t>📌 Example – Posting an Announcement</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Admin posts: 'School closed on 26 Jan for Republic Day' — Type: Holiday.
All 800 students' parents and 50 teachers receive a push notification.
Admin also posts: 'Term 2 exams from 15 Nov — Type: Exam' targeted
only to Class 9 and 10 students and their parents.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0E7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Queries &amp; Support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Two-way communication between parents and school</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Parents or students raise queries to the school administration. Admin responds and the thread is tracked. Priority levels ensure urgent issues are handled first.</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Parents raise queries: fee doubt, admission status, class issue, etc.</a:t>
            </a:r>
          </a:p>
          <a:p>
            <a:pPr>
              <a:spcBef>
                <a:spcPts val="400"/>
              </a:spcBef>
            </a:pPr>
            <a:r>
              <a:rPr sz="1400">
                <a:solidFill>
                  <a:srgbClr val="0F172A"/>
                </a:solidFill>
                <a:latin typeface="Segoe UI"/>
              </a:rPr>
              <a:t>●  Admin sees all queries with priority levels (low/medium/high/urgent)</a:t>
            </a:r>
          </a:p>
          <a:p>
            <a:pPr>
              <a:spcBef>
                <a:spcPts val="400"/>
              </a:spcBef>
            </a:pPr>
            <a:r>
              <a:rPr sz="1400">
                <a:solidFill>
                  <a:srgbClr val="0F172A"/>
                </a:solidFill>
                <a:latin typeface="Segoe UI"/>
              </a:rPr>
              <a:t>●  Admin responds directly — parent sees the reply on their app</a:t>
            </a:r>
          </a:p>
          <a:p>
            <a:pPr>
              <a:spcBef>
                <a:spcPts val="400"/>
              </a:spcBef>
            </a:pPr>
            <a:r>
              <a:rPr sz="1400">
                <a:solidFill>
                  <a:srgbClr val="0F172A"/>
                </a:solidFill>
                <a:latin typeface="Segoe UI"/>
              </a:rPr>
              <a:t>●  Full conversation thread maintained per query</a:t>
            </a:r>
          </a:p>
          <a:p>
            <a:pPr>
              <a:spcBef>
                <a:spcPts val="400"/>
              </a:spcBef>
            </a:pPr>
            <a:r>
              <a:rPr sz="1400">
                <a:solidFill>
                  <a:srgbClr val="0F172A"/>
                </a:solidFill>
                <a:latin typeface="Segoe UI"/>
              </a:rPr>
              <a:t>●  Status tracking: open, in-progress, resolved</a:t>
            </a:r>
          </a:p>
          <a:p>
            <a:pPr>
              <a:spcBef>
                <a:spcPts val="400"/>
              </a:spcBef>
            </a:pPr>
            <a:r>
              <a:rPr sz="1400">
                <a:solidFill>
                  <a:srgbClr val="0F172A"/>
                </a:solidFill>
                <a:latin typeface="Segoe UI"/>
              </a:rPr>
              <a:t>●  Support queries (admin-to-platform) tracked separately</a:t>
            </a:r>
          </a:p>
          <a:p>
            <a:pPr>
              <a:spcBef>
                <a:spcPts val="400"/>
              </a:spcBef>
            </a:pPr>
            <a:r>
              <a:rPr sz="1400">
                <a:solidFill>
                  <a:srgbClr val="0F172A"/>
                </a:solidFill>
                <a:latin typeface="Segoe UI"/>
              </a:rPr>
              <a:t>●  Filter queries by status, priority, or date</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0E7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0E7A0C"/>
                </a:solidFill>
                <a:latin typeface="Segoe UI"/>
              </a:rPr>
              <a:t>📌 Example – Query in Action</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Parent Rakesh Mehta raises a query: 'Why was Arjun marked absent on 5th Nov? He was present.'
Priority: Medium. Admin checks the attendance record and responds:
'Apologies, error corrected — attendance updated to Present.'
Rakesh sees the reply and closes the query.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271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Transport Management</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Routes · Buses · Daily Rides · Student Subscriptions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D97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Transport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School bus routes, buses, and daily rides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Manage school buses, define routes, assign drivers, and track daily rides. Students subscribe to a route and their pick-up/drop status is tracked in real time.</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Define transport routes with pickup points and estimated times</a:t>
            </a:r>
          </a:p>
          <a:p>
            <a:pPr>
              <a:spcBef>
                <a:spcPts val="400"/>
              </a:spcBef>
            </a:pPr>
            <a:r>
              <a:rPr sz="1400">
                <a:solidFill>
                  <a:srgbClr val="0F172A"/>
                </a:solidFill>
                <a:latin typeface="Segoe UI"/>
              </a:rPr>
              <a:t>●  Register school buses: registration number, capacity, driver</a:t>
            </a:r>
          </a:p>
          <a:p>
            <a:pPr>
              <a:spcBef>
                <a:spcPts val="400"/>
              </a:spcBef>
            </a:pPr>
            <a:r>
              <a:rPr sz="1400">
                <a:solidFill>
                  <a:srgbClr val="0F172A"/>
                </a:solidFill>
                <a:latin typeface="Segoe UI"/>
              </a:rPr>
              <a:t>●  Students subscribe to a route (morning pickup / evening drop)</a:t>
            </a:r>
          </a:p>
          <a:p>
            <a:pPr>
              <a:spcBef>
                <a:spcPts val="400"/>
              </a:spcBef>
            </a:pPr>
            <a:r>
              <a:rPr sz="1400">
                <a:solidFill>
                  <a:srgbClr val="0F172A"/>
                </a:solidFill>
                <a:latin typeface="Segoe UI"/>
              </a:rPr>
              <a:t>●  Record daily rides: start and end times, passengers</a:t>
            </a:r>
          </a:p>
          <a:p>
            <a:pPr>
              <a:spcBef>
                <a:spcPts val="400"/>
              </a:spcBef>
            </a:pPr>
            <a:r>
              <a:rPr sz="1400">
                <a:solidFill>
                  <a:srgbClr val="0F172A"/>
                </a:solidFill>
                <a:latin typeface="Segoe UI"/>
              </a:rPr>
              <a:t>●  Driver / route operator assigned per ride</a:t>
            </a:r>
          </a:p>
          <a:p>
            <a:pPr>
              <a:spcBef>
                <a:spcPts val="400"/>
              </a:spcBef>
            </a:pPr>
            <a:r>
              <a:rPr sz="1400">
                <a:solidFill>
                  <a:srgbClr val="0F172A"/>
                </a:solidFill>
                <a:latin typeface="Segoe UI"/>
              </a:rPr>
              <a:t>●  Admin dashboard shows today's active rides and route status</a:t>
            </a:r>
          </a:p>
          <a:p>
            <a:pPr>
              <a:spcBef>
                <a:spcPts val="400"/>
              </a:spcBef>
            </a:pPr>
            <a:r>
              <a:rPr sz="1400">
                <a:solidFill>
                  <a:srgbClr val="0F172A"/>
                </a:solidFill>
                <a:latin typeface="Segoe UI"/>
              </a:rPr>
              <a:t>●  Transport reports: monthly ridership, route utilisation</a:t>
            </a:r>
          </a:p>
          <a:p>
            <a:pPr>
              <a:spcBef>
                <a:spcPts val="400"/>
              </a:spcBef>
            </a:pPr>
            <a:r>
              <a:rPr sz="1400">
                <a:solidFill>
                  <a:srgbClr val="0F172A"/>
                </a:solidFill>
                <a:latin typeface="Segoe UI"/>
              </a:rPr>
              <a:t>●  Integrate transport fees with the fee management module</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D97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D97707"/>
                </a:solidFill>
                <a:latin typeface="Segoe UI"/>
              </a:rPr>
              <a:t>📌 Example – Bus Route Setup</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Route 'Sector 12 → DPS' covers 8 stops, 45 students subscribed.
Bus: DL-1P-4532, Driver: Ramesh Kumar.
Monday morning: Ramesh marks ride started at 7:00 AM.
Admin sees: 45 students on board, ETA 8:10 AM. Ride completed at 8:12 AM.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0C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Online Classes &amp; Courses</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Live Sessions · Recorded Courses · Enrollments &amp; Progress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Online Classes</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Schedule and conduct live virtual sessions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Teachers schedule live online classes for their students. Students join via the app or web. Attendance is tracked automatically for each session.</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an online class: title, subject, class, date, time, duration</a:t>
            </a:r>
          </a:p>
          <a:p>
            <a:pPr>
              <a:spcBef>
                <a:spcPts val="400"/>
              </a:spcBef>
            </a:pPr>
            <a:r>
              <a:rPr sz="1400">
                <a:solidFill>
                  <a:srgbClr val="0F172A"/>
                </a:solidFill>
                <a:latin typeface="Segoe UI"/>
              </a:rPr>
              <a:t>●  Integration with external platforms (Zoom, Google Meet, etc.)</a:t>
            </a:r>
          </a:p>
          <a:p>
            <a:pPr>
              <a:spcBef>
                <a:spcPts val="400"/>
              </a:spcBef>
            </a:pPr>
            <a:r>
              <a:rPr sz="1400">
                <a:solidFill>
                  <a:srgbClr val="0F172A"/>
                </a:solidFill>
                <a:latin typeface="Segoe UI"/>
              </a:rPr>
              <a:t>●  Students see upcoming classes on their dashboard/app</a:t>
            </a:r>
          </a:p>
          <a:p>
            <a:pPr>
              <a:spcBef>
                <a:spcPts val="400"/>
              </a:spcBef>
            </a:pPr>
            <a:r>
              <a:rPr sz="1400">
                <a:solidFill>
                  <a:srgbClr val="0F172A"/>
                </a:solidFill>
                <a:latin typeface="Segoe UI"/>
              </a:rPr>
              <a:t>●  Live attendance tracking: who joined and when</a:t>
            </a:r>
          </a:p>
          <a:p>
            <a:pPr>
              <a:spcBef>
                <a:spcPts val="400"/>
              </a:spcBef>
            </a:pPr>
            <a:r>
              <a:rPr sz="1400">
                <a:solidFill>
                  <a:srgbClr val="0F172A"/>
                </a:solidFill>
                <a:latin typeface="Segoe UI"/>
              </a:rPr>
              <a:t>●  Attendance report per session: present/absent per student</a:t>
            </a:r>
          </a:p>
          <a:p>
            <a:pPr>
              <a:spcBef>
                <a:spcPts val="400"/>
              </a:spcBef>
            </a:pPr>
            <a:r>
              <a:rPr sz="1400">
                <a:solidFill>
                  <a:srgbClr val="0F172A"/>
                </a:solidFill>
                <a:latin typeface="Segoe UI"/>
              </a:rPr>
              <a:t>●  Admin configures which external platform to use</a:t>
            </a:r>
          </a:p>
          <a:p>
            <a:pPr>
              <a:spcBef>
                <a:spcPts val="400"/>
              </a:spcBef>
            </a:pPr>
            <a:r>
              <a:rPr sz="1400">
                <a:solidFill>
                  <a:srgbClr val="0F172A"/>
                </a:solidFill>
                <a:latin typeface="Segoe UI"/>
              </a:rPr>
              <a:t>●  Super Admin can enable/disable online classes per school</a:t>
            </a:r>
          </a:p>
          <a:p>
            <a:pPr>
              <a:spcBef>
                <a:spcPts val="400"/>
              </a:spcBef>
            </a:pPr>
            <a:r>
              <a:rPr sz="1400">
                <a:solidFill>
                  <a:srgbClr val="0F172A"/>
                </a:solidFill>
                <a:latin typeface="Segoe UI"/>
              </a:rPr>
              <a:t>●  Teachers manage their own online class schedule</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255CDB"/>
                </a:solidFill>
                <a:latin typeface="Segoe UI"/>
              </a:rPr>
              <a:t>📌 Example – Live Class Session</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Mr. Rajesh schedules: 'Online Maths Revision – Class 10A'
for Saturday 10 AM, 60 minutes, via Google Meet.
38 students see the class in their app with a 'Join' button.
32 students join. Attendance auto-marked — 6 students absent from session.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Courses</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Self-paced learning with modules and progress tracking</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Schools and the platform offer courses students can enrol in. Courses are structured into modules. Progress is tracked as students complete each module.</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courses: title, description, duration, teacher, category</a:t>
            </a:r>
          </a:p>
          <a:p>
            <a:pPr>
              <a:spcBef>
                <a:spcPts val="400"/>
              </a:spcBef>
            </a:pPr>
            <a:r>
              <a:rPr sz="1400">
                <a:solidFill>
                  <a:srgbClr val="0F172A"/>
                </a:solidFill>
                <a:latin typeface="Segoe UI"/>
              </a:rPr>
              <a:t>●  Courses have multiple modules / lessons in sequence</a:t>
            </a:r>
          </a:p>
          <a:p>
            <a:pPr>
              <a:spcBef>
                <a:spcPts val="400"/>
              </a:spcBef>
            </a:pPr>
            <a:r>
              <a:rPr sz="1400">
                <a:solidFill>
                  <a:srgbClr val="0F172A"/>
                </a:solidFill>
                <a:latin typeface="Segoe UI"/>
              </a:rPr>
              <a:t>●  Students enrol in a course (free or fee-based)</a:t>
            </a:r>
          </a:p>
          <a:p>
            <a:pPr>
              <a:spcBef>
                <a:spcPts val="400"/>
              </a:spcBef>
            </a:pPr>
            <a:r>
              <a:rPr sz="1400">
                <a:solidFill>
                  <a:srgbClr val="0F172A"/>
                </a:solidFill>
                <a:latin typeface="Segoe UI"/>
              </a:rPr>
              <a:t>●  Progress tracker: percentage completed per student</a:t>
            </a:r>
          </a:p>
          <a:p>
            <a:pPr>
              <a:spcBef>
                <a:spcPts val="400"/>
              </a:spcBef>
            </a:pPr>
            <a:r>
              <a:rPr sz="1400">
                <a:solidFill>
                  <a:srgbClr val="0F172A"/>
                </a:solidFill>
                <a:latin typeface="Segoe UI"/>
              </a:rPr>
              <a:t>●  Super Admin manages platform-wide courses</a:t>
            </a:r>
          </a:p>
          <a:p>
            <a:pPr>
              <a:spcBef>
                <a:spcPts val="400"/>
              </a:spcBef>
            </a:pPr>
            <a:r>
              <a:rPr sz="1400">
                <a:solidFill>
                  <a:srgbClr val="0F172A"/>
                </a:solidFill>
                <a:latin typeface="Segoe UI"/>
              </a:rPr>
              <a:t>●  School admin enables courses for their school</a:t>
            </a:r>
          </a:p>
          <a:p>
            <a:pPr>
              <a:spcBef>
                <a:spcPts val="400"/>
              </a:spcBef>
            </a:pPr>
            <a:r>
              <a:rPr sz="1400">
                <a:solidFill>
                  <a:srgbClr val="0F172A"/>
                </a:solidFill>
                <a:latin typeface="Segoe UI"/>
              </a:rPr>
              <a:t>●  Students see enrolled courses and continue from where they left off</a:t>
            </a:r>
          </a:p>
          <a:p>
            <a:pPr>
              <a:spcBef>
                <a:spcPts val="400"/>
              </a:spcBef>
            </a:pPr>
            <a:r>
              <a:rPr sz="1400">
                <a:solidFill>
                  <a:srgbClr val="0F172A"/>
                </a:solidFill>
                <a:latin typeface="Segoe UI"/>
              </a:rPr>
              <a:t>●  Teachers manage the courses they own</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4F46E5"/>
                </a:solidFill>
                <a:latin typeface="Segoe UI"/>
              </a:rPr>
              <a:t>📌 Example – Course Enrollment</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Platform offers: 'JEE Preparation – Physics' — 12 modules, 40 hours.
Arjun (Class 11) enrolls. He completes Modules 1–4 over two weeks.
Dashboard shows: 33% complete. Module 5 is next: 'Laws of Motion.'
Teacher sees 45 students enrolled, 12 have completed &gt; 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Events, Compliance &amp; More</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School Calendar · Compliance · Vendor Shop · Career Sessions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School Events</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Plan and manage school activities and celebrations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Create school events like sports day, annual day, parent-teacher meetings, and field trips. Assign tasks to staff and track event preparation.</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events: name, type, date, description, venue</a:t>
            </a:r>
          </a:p>
          <a:p>
            <a:pPr>
              <a:spcBef>
                <a:spcPts val="400"/>
              </a:spcBef>
            </a:pPr>
            <a:r>
              <a:rPr sz="1400">
                <a:solidFill>
                  <a:srgbClr val="0F172A"/>
                </a:solidFill>
                <a:latin typeface="Segoe UI"/>
              </a:rPr>
              <a:t>●  Customisable event types (Annual Day, Sports, PTM, Excursion, etc.)</a:t>
            </a:r>
          </a:p>
          <a:p>
            <a:pPr>
              <a:spcBef>
                <a:spcPts val="400"/>
              </a:spcBef>
            </a:pPr>
            <a:r>
              <a:rPr sz="1400">
                <a:solidFill>
                  <a:srgbClr val="0F172A"/>
                </a:solidFill>
                <a:latin typeface="Segoe UI"/>
              </a:rPr>
              <a:t>●  Assign tasks to teachers / staff for event preparation</a:t>
            </a:r>
          </a:p>
          <a:p>
            <a:pPr>
              <a:spcBef>
                <a:spcPts val="400"/>
              </a:spcBef>
            </a:pPr>
            <a:r>
              <a:rPr sz="1400">
                <a:solidFill>
                  <a:srgbClr val="0F172A"/>
                </a:solidFill>
                <a:latin typeface="Segoe UI"/>
              </a:rPr>
              <a:t>●  Events appear on the school calendar for all users</a:t>
            </a:r>
          </a:p>
          <a:p>
            <a:pPr>
              <a:spcBef>
                <a:spcPts val="400"/>
              </a:spcBef>
            </a:pPr>
            <a:r>
              <a:rPr sz="1400">
                <a:solidFill>
                  <a:srgbClr val="0F172A"/>
                </a:solidFill>
                <a:latin typeface="Segoe UI"/>
              </a:rPr>
              <a:t>●  Parents see upcoming events on the mobile app</a:t>
            </a:r>
          </a:p>
          <a:p>
            <a:pPr>
              <a:spcBef>
                <a:spcPts val="400"/>
              </a:spcBef>
            </a:pPr>
            <a:r>
              <a:rPr sz="1400">
                <a:solidFill>
                  <a:srgbClr val="0F172A"/>
                </a:solidFill>
                <a:latin typeface="Segoe UI"/>
              </a:rPr>
              <a:t>●  Announcements can be linked to events</a:t>
            </a:r>
          </a:p>
          <a:p>
            <a:pPr>
              <a:spcBef>
                <a:spcPts val="400"/>
              </a:spcBef>
            </a:pPr>
            <a:r>
              <a:rPr sz="1400">
                <a:solidFill>
                  <a:srgbClr val="0F172A"/>
                </a:solidFill>
                <a:latin typeface="Segoe UI"/>
              </a:rPr>
              <a:t>●  Event history for the academic year</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FF6B35"/>
                </a:solidFill>
                <a:latin typeface="Segoe UI"/>
              </a:rPr>
              <a:t>📌 Example – Annual Day Planning</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Admin creates event: 'Annual Day 2025 – 15 March 2025, School Auditorium'.
Tasks assigned: Mrs. Priya → cultural programme, Mr. Ravi → sound system.
All parents see the event in their app calendar and get a reminder 3 days before.
Post-event: Admin archives it with photos and notes.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066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Compliance Management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Track school policy and regulatory requirements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Schools must meet various compliance requirements — safety drills, document submissions, inspections. Yulaa helps track status of each compliance item.</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compliance checklist items with due dates</a:t>
            </a:r>
          </a:p>
          <a:p>
            <a:pPr>
              <a:spcBef>
                <a:spcPts val="400"/>
              </a:spcBef>
            </a:pPr>
            <a:r>
              <a:rPr sz="1400">
                <a:solidFill>
                  <a:srgbClr val="0F172A"/>
                </a:solidFill>
                <a:latin typeface="Segoe UI"/>
              </a:rPr>
              <a:t>●  Track status: pending / in-progress / completed / overdue</a:t>
            </a:r>
          </a:p>
          <a:p>
            <a:pPr>
              <a:spcBef>
                <a:spcPts val="400"/>
              </a:spcBef>
            </a:pPr>
            <a:r>
              <a:rPr sz="1400">
                <a:solidFill>
                  <a:srgbClr val="0F172A"/>
                </a:solidFill>
                <a:latin typeface="Segoe UI"/>
              </a:rPr>
              <a:t>●  Assign responsibility to a specific staff member</a:t>
            </a:r>
          </a:p>
          <a:p>
            <a:pPr>
              <a:spcBef>
                <a:spcPts val="400"/>
              </a:spcBef>
            </a:pPr>
            <a:r>
              <a:rPr sz="1400">
                <a:solidFill>
                  <a:srgbClr val="0F172A"/>
                </a:solidFill>
                <a:latin typeface="Segoe UI"/>
              </a:rPr>
              <a:t>●  Admin gets an overview of all compliance items and their status</a:t>
            </a:r>
          </a:p>
          <a:p>
            <a:pPr>
              <a:spcBef>
                <a:spcPts val="400"/>
              </a:spcBef>
            </a:pPr>
            <a:r>
              <a:rPr sz="1400">
                <a:solidFill>
                  <a:srgbClr val="0F172A"/>
                </a:solidFill>
                <a:latin typeface="Segoe UI"/>
              </a:rPr>
              <a:t>●  Colour-coded dashboard: green (done), red (overdue), yellow (in-progress)</a:t>
            </a:r>
          </a:p>
          <a:p>
            <a:pPr>
              <a:spcBef>
                <a:spcPts val="400"/>
              </a:spcBef>
            </a:pPr>
            <a:r>
              <a:rPr sz="1400">
                <a:solidFill>
                  <a:srgbClr val="0F172A"/>
                </a:solidFill>
                <a:latin typeface="Segoe UI"/>
              </a:rPr>
              <a:t>●  Add notes and attach evidence (document path / URL)</a:t>
            </a:r>
          </a:p>
          <a:p>
            <a:pPr>
              <a:spcBef>
                <a:spcPts val="400"/>
              </a:spcBef>
            </a:pPr>
            <a:r>
              <a:rPr sz="1400">
                <a:solidFill>
                  <a:srgbClr val="0F172A"/>
                </a:solidFill>
                <a:latin typeface="Segoe UI"/>
              </a:rPr>
              <a:t>●  Per-school compliance management</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066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06692C"/>
                </a:solidFill>
                <a:latin typeface="Segoe UI"/>
              </a:rPr>
              <a:t>📌 Example – Compliance Tracking</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School has 10 compliance items for the year:
✅ Fire drill (Apr) — Completed | ⚠️ CBSE affiliation renewal (Sep) — Due in 15 days
❌ Building safety certificate — Overdue by 10 days
Admin sees a red alert and assigns Mr. Gupta to resolve it immediately.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E57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Vendor / School Shop</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Buy school supplies and uniforms online</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Vendors (uniform suppliers, book sellers, stationery shops) list their products on Yulaa. Parents browse and order from the school-approved shop. Vendors manage their inventory and orders.</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Vendors register and list products with price and stock</a:t>
            </a:r>
          </a:p>
          <a:p>
            <a:pPr>
              <a:spcBef>
                <a:spcPts val="400"/>
              </a:spcBef>
            </a:pPr>
            <a:r>
              <a:rPr sz="1400">
                <a:solidFill>
                  <a:srgbClr val="0F172A"/>
                </a:solidFill>
                <a:latin typeface="Segoe UI"/>
              </a:rPr>
              <a:t>●  Parents browse and place orders for school supplies</a:t>
            </a:r>
          </a:p>
          <a:p>
            <a:pPr>
              <a:spcBef>
                <a:spcPts val="400"/>
              </a:spcBef>
            </a:pPr>
            <a:r>
              <a:rPr sz="1400">
                <a:solidFill>
                  <a:srgbClr val="0F172A"/>
                </a:solidFill>
                <a:latin typeface="Segoe UI"/>
              </a:rPr>
              <a:t>●  Vendors see incoming orders and mark them fulfilled</a:t>
            </a:r>
          </a:p>
          <a:p>
            <a:pPr>
              <a:spcBef>
                <a:spcPts val="400"/>
              </a:spcBef>
            </a:pPr>
            <a:r>
              <a:rPr sz="1400">
                <a:solidFill>
                  <a:srgbClr val="0F172A"/>
                </a:solidFill>
                <a:latin typeface="Segoe UI"/>
              </a:rPr>
              <a:t>●  Admin approves which vendors can operate in their school</a:t>
            </a:r>
          </a:p>
          <a:p>
            <a:pPr>
              <a:spcBef>
                <a:spcPts val="400"/>
              </a:spcBef>
            </a:pPr>
            <a:r>
              <a:rPr sz="1400">
                <a:solidFill>
                  <a:srgbClr val="0F172A"/>
                </a:solidFill>
                <a:latin typeface="Segoe UI"/>
              </a:rPr>
              <a:t>●  Parents can rate and review vendors</a:t>
            </a:r>
          </a:p>
          <a:p>
            <a:pPr>
              <a:spcBef>
                <a:spcPts val="400"/>
              </a:spcBef>
            </a:pPr>
            <a:r>
              <a:rPr sz="1400">
                <a:solidFill>
                  <a:srgbClr val="0F172A"/>
                </a:solidFill>
                <a:latin typeface="Segoe UI"/>
              </a:rPr>
              <a:t>●  Vendor inventory management: add, edit, deactivate products</a:t>
            </a:r>
          </a:p>
          <a:p>
            <a:pPr>
              <a:spcBef>
                <a:spcPts val="400"/>
              </a:spcBef>
            </a:pPr>
            <a:r>
              <a:rPr sz="1400">
                <a:solidFill>
                  <a:srgbClr val="0F172A"/>
                </a:solidFill>
                <a:latin typeface="Segoe UI"/>
              </a:rPr>
              <a:t>●  Order history for parents: past purchases</a:t>
            </a:r>
          </a:p>
          <a:p>
            <a:pPr>
              <a:spcBef>
                <a:spcPts val="400"/>
              </a:spcBef>
            </a:pPr>
            <a:r>
              <a:rPr sz="1400">
                <a:solidFill>
                  <a:srgbClr val="0F172A"/>
                </a:solidFill>
                <a:latin typeface="Segoe UI"/>
              </a:rPr>
              <a:t>●  Super Admin manages platform-wide vendor approvals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E57B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E57B08"/>
                </a:solidFill>
                <a:latin typeface="Segoe UI"/>
              </a:rPr>
              <a:t>📌 Example – Vendor Shop</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Sharma Uniforms lists DPS school uniform set at ₹850.
Parent Rakesh orders 2 sets for Arjun's new school year.
Sharma Uniforms sees the order, packs it, marks 'Dispatched'.
Rakesh receives the order and gives a 5-star rating.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Career Sessions (Consultant)</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Book one-on-one sessions with career counsellors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External career consultants offer guidance sessions to students and parents. They set their availability, and users can book slots directly through Yulaa.</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Consultants register and set their weekly availability</a:t>
            </a:r>
          </a:p>
          <a:p>
            <a:pPr>
              <a:spcBef>
                <a:spcPts val="400"/>
              </a:spcBef>
            </a:pPr>
            <a:r>
              <a:rPr sz="1400">
                <a:solidFill>
                  <a:srgbClr val="0F172A"/>
                </a:solidFill>
                <a:latin typeface="Segoe UI"/>
              </a:rPr>
              <a:t>●  Students/parents browse consultants and book available slots</a:t>
            </a:r>
          </a:p>
          <a:p>
            <a:pPr>
              <a:spcBef>
                <a:spcPts val="400"/>
              </a:spcBef>
            </a:pPr>
            <a:r>
              <a:rPr sz="1400">
                <a:solidFill>
                  <a:srgbClr val="0F172A"/>
                </a:solidFill>
                <a:latin typeface="Segoe UI"/>
              </a:rPr>
              <a:t>●  Session confirmation sent to both parties</a:t>
            </a:r>
          </a:p>
          <a:p>
            <a:pPr>
              <a:spcBef>
                <a:spcPts val="400"/>
              </a:spcBef>
            </a:pPr>
            <a:r>
              <a:rPr sz="1400">
                <a:solidFill>
                  <a:srgbClr val="0F172A"/>
                </a:solidFill>
                <a:latin typeface="Segoe UI"/>
              </a:rPr>
              <a:t>●  School can allow only specific consultants (contract-based)</a:t>
            </a:r>
          </a:p>
          <a:p>
            <a:pPr>
              <a:spcBef>
                <a:spcPts val="400"/>
              </a:spcBef>
            </a:pPr>
            <a:r>
              <a:rPr sz="1400">
                <a:solidFill>
                  <a:srgbClr val="0F172A"/>
                </a:solidFill>
                <a:latin typeface="Segoe UI"/>
              </a:rPr>
              <a:t>●  Consultants manage their upcoming and past sessions</a:t>
            </a:r>
          </a:p>
          <a:p>
            <a:pPr>
              <a:spcBef>
                <a:spcPts val="400"/>
              </a:spcBef>
            </a:pPr>
            <a:r>
              <a:rPr sz="1400">
                <a:solidFill>
                  <a:srgbClr val="0F172A"/>
                </a:solidFill>
                <a:latin typeface="Segoe UI"/>
              </a:rPr>
              <a:t>●  Users rate sessions after completion</a:t>
            </a:r>
          </a:p>
          <a:p>
            <a:pPr>
              <a:spcBef>
                <a:spcPts val="400"/>
              </a:spcBef>
            </a:pPr>
            <a:r>
              <a:rPr sz="1400">
                <a:solidFill>
                  <a:srgbClr val="0F172A"/>
                </a:solidFill>
                <a:latin typeface="Segoe UI"/>
              </a:rPr>
              <a:t>●  Super Admin oversees all consultants on the platform</a:t>
            </a:r>
          </a:p>
          <a:p>
            <a:pPr>
              <a:spcBef>
                <a:spcPts val="400"/>
              </a:spcBef>
            </a:pPr>
            <a:r>
              <a:rPr sz="1400">
                <a:solidFill>
                  <a:srgbClr val="0F172A"/>
                </a:solidFill>
                <a:latin typeface="Segoe UI"/>
              </a:rPr>
              <a:t>●  Consultant contracts define which schools they serve</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7C3AED"/>
                </a:solidFill>
                <a:latin typeface="Segoe UI"/>
              </a:rPr>
              <a:t>📌 Example – Booking a Career Session</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Mr. Anand Kapoor (IIT Counsellor) has slots available: Mon/Wed/Fri 4–6 PM.
Arjun (Class 11) books a 30-min slot on Monday 4:30 PM.
Both receive a confirmation. After the session, Arjun rates it 5 stars.
Admin sees total sessions booked this month: 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Reports, Letters &amp; Admin Tools</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Data Export · Letter Templates · Master Configuration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Reports &amp; Analytics</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Monthly reports and data exports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Generate detailed reports on attendance, fees, students, and performance. Export them as Excel or PDF files for record-keeping or inspection.</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Monthly attendance report: class-wise, student-wise</a:t>
            </a:r>
          </a:p>
          <a:p>
            <a:pPr>
              <a:spcBef>
                <a:spcPts val="400"/>
              </a:spcBef>
            </a:pPr>
            <a:r>
              <a:rPr sz="1400">
                <a:solidFill>
                  <a:srgbClr val="0F172A"/>
                </a:solidFill>
                <a:latin typeface="Segoe UI"/>
              </a:rPr>
              <a:t>●  Fee collection report: collected vs pending vs overdue</a:t>
            </a:r>
          </a:p>
          <a:p>
            <a:pPr>
              <a:spcBef>
                <a:spcPts val="400"/>
              </a:spcBef>
            </a:pPr>
            <a:r>
              <a:rPr sz="1400">
                <a:solidFill>
                  <a:srgbClr val="0F172A"/>
                </a:solidFill>
                <a:latin typeface="Segoe UI"/>
              </a:rPr>
              <a:t>●  Student performance report: exam-wise marks and grades</a:t>
            </a:r>
          </a:p>
          <a:p>
            <a:pPr>
              <a:spcBef>
                <a:spcPts val="400"/>
              </a:spcBef>
            </a:pPr>
            <a:r>
              <a:rPr sz="1400">
                <a:solidFill>
                  <a:srgbClr val="0F172A"/>
                </a:solidFill>
                <a:latin typeface="Segoe UI"/>
              </a:rPr>
              <a:t>●  Export any report to Excel (.xlsx) or PDF</a:t>
            </a:r>
          </a:p>
          <a:p>
            <a:pPr>
              <a:spcBef>
                <a:spcPts val="400"/>
              </a:spcBef>
            </a:pPr>
            <a:r>
              <a:rPr sz="1400">
                <a:solidFill>
                  <a:srgbClr val="0F172A"/>
                </a:solidFill>
                <a:latin typeface="Segoe UI"/>
              </a:rPr>
              <a:t>●  Dashboard summary: real-time stats on one screen</a:t>
            </a:r>
          </a:p>
          <a:p>
            <a:pPr>
              <a:spcBef>
                <a:spcPts val="400"/>
              </a:spcBef>
            </a:pPr>
            <a:r>
              <a:rPr sz="1400">
                <a:solidFill>
                  <a:srgbClr val="0F172A"/>
                </a:solidFill>
                <a:latin typeface="Segoe UI"/>
              </a:rPr>
              <a:t>●  Scheduled/cron-based data refresh for the dashboard</a:t>
            </a:r>
          </a:p>
          <a:p>
            <a:pPr>
              <a:spcBef>
                <a:spcPts val="400"/>
              </a:spcBef>
            </a:pPr>
            <a:r>
              <a:rPr sz="1400">
                <a:solidFill>
                  <a:srgbClr val="0F172A"/>
                </a:solidFill>
                <a:latin typeface="Segoe UI"/>
              </a:rPr>
              <a:t>●  Redis caching for fast dashboard load</a:t>
            </a:r>
          </a:p>
          <a:p>
            <a:pPr>
              <a:spcBef>
                <a:spcPts val="400"/>
              </a:spcBef>
            </a:pPr>
            <a:r>
              <a:rPr sz="1400">
                <a:solidFill>
                  <a:srgbClr val="0F172A"/>
                </a:solidFill>
                <a:latin typeface="Segoe UI"/>
              </a:rPr>
              <a:t>●  Admin can drill down: school → class → student</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255CDB"/>
                </a:solidFill>
                <a:latin typeface="Segoe UI"/>
              </a:rPr>
              <a:t>📌 Example – Monthly Report</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At the end of October, Principal downloads the Monthly Attendance Report for Class 9A.
Report shows: 35/38 students had &gt; 85% attendance. 3 students flagged with &lt; 75%.
He also exports Fee Collection Report: ₹18,50,000 collected, ₹2,20,000 pending.
Both reports are saved as Excel files and shared with the trust board.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Letter Templates</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Create custom official letters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Schools can create standard letter templates for TC (Transfer Certificate), bonafide, fee receipts, and other official documents. Fill in details and print.</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Create reusable letter templates with placeholders</a:t>
            </a:r>
          </a:p>
          <a:p>
            <a:pPr>
              <a:spcBef>
                <a:spcPts val="400"/>
              </a:spcBef>
            </a:pPr>
            <a:r>
              <a:rPr sz="1400">
                <a:solidFill>
                  <a:srgbClr val="0F172A"/>
                </a:solidFill>
                <a:latin typeface="Segoe UI"/>
              </a:rPr>
              <a:t>●  Templates for: Transfer Certificate, Bonafide, Experience Letter, etc.</a:t>
            </a:r>
          </a:p>
          <a:p>
            <a:pPr>
              <a:spcBef>
                <a:spcPts val="400"/>
              </a:spcBef>
            </a:pPr>
            <a:r>
              <a:rPr sz="1400">
                <a:solidFill>
                  <a:srgbClr val="0F172A"/>
                </a:solidFill>
                <a:latin typeface="Segoe UI"/>
              </a:rPr>
              <a:t>●  Fill in student/teacher details to generate a letter</a:t>
            </a:r>
          </a:p>
          <a:p>
            <a:pPr>
              <a:spcBef>
                <a:spcPts val="400"/>
              </a:spcBef>
            </a:pPr>
            <a:r>
              <a:rPr sz="1400">
                <a:solidFill>
                  <a:srgbClr val="0F172A"/>
                </a:solidFill>
                <a:latin typeface="Segoe UI"/>
              </a:rPr>
              <a:t>●  Download or print the generated letter as PDF</a:t>
            </a:r>
          </a:p>
          <a:p>
            <a:pPr>
              <a:spcBef>
                <a:spcPts val="400"/>
              </a:spcBef>
            </a:pPr>
            <a:r>
              <a:rPr sz="1400">
                <a:solidFill>
                  <a:srgbClr val="0F172A"/>
                </a:solidFill>
                <a:latin typeface="Segoe UI"/>
              </a:rPr>
              <a:t>●  Admin manages all templates from one screen</a:t>
            </a:r>
          </a:p>
          <a:p>
            <a:pPr>
              <a:spcBef>
                <a:spcPts val="400"/>
              </a:spcBef>
            </a:pPr>
            <a:r>
              <a:rPr sz="1400">
                <a:solidFill>
                  <a:srgbClr val="0F172A"/>
                </a:solidFill>
                <a:latin typeface="Segoe UI"/>
              </a:rPr>
              <a:t>●  Templates can be customised per school branding</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64748B"/>
                </a:solidFill>
                <a:latin typeface="Segoe UI"/>
              </a:rPr>
              <a:t>📌 Example – Transfer Certificate</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Arjun is moving to another city. Admin opens the TC template.
System auto-fills: student name, admission no., class, date of joining, date of leaving.
Admin reviews, adds the principal's signature stamp, and downloads the PDF.
TC is ready in under 2 minutes.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575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Masters / Lookup Configuration</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Customise dropdown values and school-specific lists</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Every dropdown in the system — blood groups, genders, exam types, leave types, grades, streams — can be customised by the admin. This avoids hard-coded lists.</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Configurable masters: Gender, Blood Group, Qualifications, Streams</a:t>
            </a:r>
          </a:p>
          <a:p>
            <a:pPr>
              <a:spcBef>
                <a:spcPts val="400"/>
              </a:spcBef>
            </a:pPr>
            <a:r>
              <a:rPr sz="1400">
                <a:solidFill>
                  <a:srgbClr val="0F172A"/>
                </a:solidFill>
                <a:latin typeface="Segoe UI"/>
              </a:rPr>
              <a:t>●  Grades &amp; Grading Types (A+, A, B+ … or percentage-based)</a:t>
            </a:r>
          </a:p>
          <a:p>
            <a:pPr>
              <a:spcBef>
                <a:spcPts val="400"/>
              </a:spcBef>
            </a:pPr>
            <a:r>
              <a:rPr sz="1400">
                <a:solidFill>
                  <a:srgbClr val="0F172A"/>
                </a:solidFill>
                <a:latin typeface="Segoe UI"/>
              </a:rPr>
              <a:t>●  Leave Types (Casual, Sick, Earned, Maternity, etc.)</a:t>
            </a:r>
          </a:p>
          <a:p>
            <a:pPr>
              <a:spcBef>
                <a:spcPts val="400"/>
              </a:spcBef>
            </a:pPr>
            <a:r>
              <a:rPr sz="1400">
                <a:solidFill>
                  <a:srgbClr val="0F172A"/>
                </a:solidFill>
                <a:latin typeface="Segoe UI"/>
              </a:rPr>
              <a:t>●  Exam Types (Unit Test, Midterm, Annual, Practical)</a:t>
            </a:r>
          </a:p>
          <a:p>
            <a:pPr>
              <a:spcBef>
                <a:spcPts val="400"/>
              </a:spcBef>
            </a:pPr>
            <a:r>
              <a:rPr sz="1400">
                <a:solidFill>
                  <a:srgbClr val="0F172A"/>
                </a:solidFill>
                <a:latin typeface="Segoe UI"/>
              </a:rPr>
              <a:t>●  Event Types, Announcement Types, Content Types</a:t>
            </a:r>
          </a:p>
          <a:p>
            <a:pPr>
              <a:spcBef>
                <a:spcPts val="400"/>
              </a:spcBef>
            </a:pPr>
            <a:r>
              <a:rPr sz="1400">
                <a:solidFill>
                  <a:srgbClr val="0F172A"/>
                </a:solidFill>
                <a:latin typeface="Segoe UI"/>
              </a:rPr>
              <a:t>●  Location masters: Countries, States, Districts</a:t>
            </a:r>
          </a:p>
          <a:p>
            <a:pPr>
              <a:spcBef>
                <a:spcPts val="400"/>
              </a:spcBef>
            </a:pPr>
            <a:r>
              <a:rPr sz="1400">
                <a:solidFill>
                  <a:srgbClr val="0F172A"/>
                </a:solidFill>
                <a:latin typeface="Segoe UI"/>
              </a:rPr>
              <a:t>●  School Hierarchy &amp; Location masters</a:t>
            </a:r>
          </a:p>
          <a:p>
            <a:pPr>
              <a:spcBef>
                <a:spcPts val="400"/>
              </a:spcBef>
            </a:pPr>
            <a:r>
              <a:rPr sz="1400">
                <a:solidFill>
                  <a:srgbClr val="0F172A"/>
                </a:solidFill>
                <a:latin typeface="Segoe UI"/>
              </a:rPr>
              <a:t>●  Custom / Generic masters for unique school needs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575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57534E"/>
                </a:solidFill>
                <a:latin typeface="Segoe UI"/>
              </a:rPr>
              <a:t>📌 Example – Custom Masters</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DPS uses CBSE grading: A1, A2, B1, B2, C1, C2, D, E.
St. Xavier's uses percentage-based grading: 90%+ = A+, 80–89% = A...
Each school sets up its OWN grading type in Masters.
When exam results are entered, the correct grading formula applies automatically.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062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Mobile App</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iOS &amp; Android – Built with React Native / Expo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Mobile App</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All key features on iOS and Android</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Yulaa has a full-featured mobile app for teachers, parents, students, and vendors. Built with React Native (Expo) — one codebase, two platforms.</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Teachers: mark attendance, assign homework, view timetable</a:t>
            </a:r>
          </a:p>
          <a:p>
            <a:pPr>
              <a:spcBef>
                <a:spcPts val="400"/>
              </a:spcBef>
            </a:pPr>
            <a:r>
              <a:rPr sz="1400">
                <a:solidFill>
                  <a:srgbClr val="0F172A"/>
                </a:solidFill>
                <a:latin typeface="Segoe UI"/>
              </a:rPr>
              <a:t>●  Parents: see child's attendance, fees due, announcements</a:t>
            </a:r>
          </a:p>
          <a:p>
            <a:pPr>
              <a:spcBef>
                <a:spcPts val="400"/>
              </a:spcBef>
            </a:pPr>
            <a:r>
              <a:rPr sz="1400">
                <a:solidFill>
                  <a:srgbClr val="0F172A"/>
                </a:solidFill>
                <a:latin typeface="Segoe UI"/>
              </a:rPr>
              <a:t>●  Students: view homework, online classes, courses, events</a:t>
            </a:r>
          </a:p>
          <a:p>
            <a:pPr>
              <a:spcBef>
                <a:spcPts val="400"/>
              </a:spcBef>
            </a:pPr>
            <a:r>
              <a:rPr sz="1400">
                <a:solidFill>
                  <a:srgbClr val="0F172A"/>
                </a:solidFill>
                <a:latin typeface="Segoe UI"/>
              </a:rPr>
              <a:t>●  Vendors: manage products and view orders</a:t>
            </a:r>
          </a:p>
          <a:p>
            <a:pPr>
              <a:spcBef>
                <a:spcPts val="400"/>
              </a:spcBef>
            </a:pPr>
            <a:r>
              <a:rPr sz="1400">
                <a:solidFill>
                  <a:srgbClr val="0F172A"/>
                </a:solidFill>
                <a:latin typeface="Segoe UI"/>
              </a:rPr>
              <a:t>●  OTP-based login for mobile users</a:t>
            </a:r>
          </a:p>
          <a:p>
            <a:pPr>
              <a:spcBef>
                <a:spcPts val="400"/>
              </a:spcBef>
            </a:pPr>
            <a:r>
              <a:rPr sz="1400">
                <a:solidFill>
                  <a:srgbClr val="0F172A"/>
                </a:solidFill>
                <a:latin typeface="Segoe UI"/>
              </a:rPr>
              <a:t>●  Push notifications for fees due, attendance, announcements</a:t>
            </a:r>
          </a:p>
          <a:p>
            <a:pPr>
              <a:spcBef>
                <a:spcPts val="400"/>
              </a:spcBef>
            </a:pPr>
            <a:r>
              <a:rPr sz="1400">
                <a:solidFill>
                  <a:srgbClr val="0F172A"/>
                </a:solidFill>
                <a:latin typeface="Segoe UI"/>
              </a:rPr>
              <a:t>●  Leave application from mobile</a:t>
            </a:r>
          </a:p>
          <a:p>
            <a:pPr>
              <a:spcBef>
                <a:spcPts val="400"/>
              </a:spcBef>
            </a:pPr>
            <a:r>
              <a:rPr sz="1400">
                <a:solidFill>
                  <a:srgbClr val="0F172A"/>
                </a:solidFill>
                <a:latin typeface="Segoe UI"/>
              </a:rPr>
              <a:t>●  Career session booking on the go</a:t>
            </a:r>
          </a:p>
          <a:p>
            <a:pPr>
              <a:spcBef>
                <a:spcPts val="400"/>
              </a:spcBef>
            </a:pPr>
            <a:r>
              <a:rPr sz="1400">
                <a:solidFill>
                  <a:srgbClr val="0F172A"/>
                </a:solidFill>
                <a:latin typeface="Segoe UI"/>
              </a:rPr>
              <a:t>●  Offline-friendly design for slow connectivity</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0EA5E9"/>
                </a:solidFill>
                <a:latin typeface="Segoe UI"/>
              </a:rPr>
              <a:t>📌 Example – Parent Morning Routine</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7:45 AM: Parent Rakesh checks the app before dropping Arjun at school.
He sees: 'Today's homework: Maths Ex 5.3 due tomorrow' + 'Fees due: ₹24,500 by 30 Nov'.
He also sees an announcement: 'PTM on Saturday 9 AM'.
He taps 'Pay Fees' and settles the dues in 30 seconds — done before reaching school.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1A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4630400"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2801600" cy="1005840"/>
          </a:xfrm>
          <a:prstGeom prst="rect">
            <a:avLst/>
          </a:prstGeom>
          <a:noFill/>
        </p:spPr>
        <p:txBody>
          <a:bodyPr wrap="square">
            <a:spAutoFit/>
          </a:bodyPr>
          <a:lstStyle/>
          <a:p>
            <a:pPr algn="ctr"/>
            <a:r>
              <a:rPr sz="4400" b="1" i="0">
                <a:solidFill>
                  <a:srgbClr val="FFFFFF"/>
                </a:solidFill>
                <a:latin typeface="Segoe UI"/>
              </a:rPr>
              <a:t>Super Admin Panel</a:t>
            </a:r>
          </a:p>
        </p:txBody>
      </p:sp>
      <p:sp>
        <p:nvSpPr>
          <p:cNvPr id="5" name="TextBox 4"/>
          <p:cNvSpPr txBox="1"/>
          <p:nvPr/>
        </p:nvSpPr>
        <p:spPr>
          <a:xfrm>
            <a:off x="914400" y="4023360"/>
            <a:ext cx="12801600" cy="640080"/>
          </a:xfrm>
          <a:prstGeom prst="rect">
            <a:avLst/>
          </a:prstGeom>
          <a:noFill/>
        </p:spPr>
        <p:txBody>
          <a:bodyPr wrap="square">
            <a:spAutoFit/>
          </a:bodyPr>
          <a:lstStyle/>
          <a:p>
            <a:pPr algn="ctr"/>
            <a:r>
              <a:rPr sz="1800" b="0" i="1">
                <a:solidFill>
                  <a:srgbClr val="A0B4D0"/>
                </a:solidFill>
                <a:latin typeface="Segoe UI"/>
              </a:rPr>
              <a:t>Platform-level control over all schools and users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029200" cy="8229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9601200" cy="82296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274320"/>
            <a:ext cx="1828800" cy="1097280"/>
          </a:xfrm>
          <a:prstGeom prst="rect">
            <a:avLst/>
          </a:prstGeom>
          <a:noFill/>
        </p:spPr>
        <p:txBody>
          <a:bodyPr wrap="square">
            <a:spAutoFit/>
          </a:bodyPr>
          <a:lstStyle/>
          <a:p>
            <a:pPr algn="l"/>
            <a:r>
              <a:rPr sz="5200" b="0" i="0">
                <a:solidFill>
                  <a:srgbClr val="FFFFFF"/>
                </a:solidFill>
                <a:latin typeface="Segoe UI"/>
              </a:rPr>
              <a:t>🛡️</a:t>
            </a:r>
          </a:p>
        </p:txBody>
      </p:sp>
      <p:sp>
        <p:nvSpPr>
          <p:cNvPr id="5" name="TextBox 4"/>
          <p:cNvSpPr txBox="1"/>
          <p:nvPr/>
        </p:nvSpPr>
        <p:spPr>
          <a:xfrm>
            <a:off x="274320" y="1463040"/>
            <a:ext cx="4572000" cy="640080"/>
          </a:xfrm>
          <a:prstGeom prst="rect">
            <a:avLst/>
          </a:prstGeom>
          <a:noFill/>
        </p:spPr>
        <p:txBody>
          <a:bodyPr wrap="square">
            <a:spAutoFit/>
          </a:bodyPr>
          <a:lstStyle/>
          <a:p>
            <a:pPr algn="l"/>
            <a:r>
              <a:rPr sz="2600" b="1" i="0">
                <a:solidFill>
                  <a:srgbClr val="FFFFFF"/>
                </a:solidFill>
                <a:latin typeface="Segoe UI"/>
              </a:rPr>
              <a:t>Super Admin Dashboard</a:t>
            </a:r>
          </a:p>
        </p:txBody>
      </p:sp>
      <p:sp>
        <p:nvSpPr>
          <p:cNvPr id="6" name="TextBox 5"/>
          <p:cNvSpPr txBox="1"/>
          <p:nvPr/>
        </p:nvSpPr>
        <p:spPr>
          <a:xfrm>
            <a:off x="274320" y="2194560"/>
            <a:ext cx="4572000" cy="457200"/>
          </a:xfrm>
          <a:prstGeom prst="rect">
            <a:avLst/>
          </a:prstGeom>
          <a:noFill/>
        </p:spPr>
        <p:txBody>
          <a:bodyPr wrap="square">
            <a:spAutoFit/>
          </a:bodyPr>
          <a:lstStyle/>
          <a:p>
            <a:pPr algn="l"/>
            <a:r>
              <a:rPr sz="1300" b="0" i="1">
                <a:solidFill>
                  <a:srgbClr val="BFD7FF"/>
                </a:solidFill>
                <a:latin typeface="Segoe UI"/>
              </a:rPr>
              <a:t>God-mode control over the entire platform</a:t>
            </a:r>
          </a:p>
        </p:txBody>
      </p:sp>
      <p:sp>
        <p:nvSpPr>
          <p:cNvPr id="7" name="TextBox 6"/>
          <p:cNvSpPr txBox="1"/>
          <p:nvPr/>
        </p:nvSpPr>
        <p:spPr>
          <a:xfrm>
            <a:off x="274320" y="2834640"/>
            <a:ext cx="4572000" cy="2011680"/>
          </a:xfrm>
          <a:prstGeom prst="rect">
            <a:avLst/>
          </a:prstGeom>
          <a:noFill/>
        </p:spPr>
        <p:txBody>
          <a:bodyPr wrap="square">
            <a:spAutoFit/>
          </a:bodyPr>
          <a:lstStyle/>
          <a:p>
            <a:pPr algn="l"/>
            <a:r>
              <a:rPr sz="1300" b="0" i="0">
                <a:solidFill>
                  <a:srgbClr val="FFFFFF"/>
                </a:solidFill>
                <a:latin typeface="Segoe UI"/>
              </a:rPr>
              <a:t>The Super Admin manages all schools, users, consultants, vendors, and platform-level settings from a single unified dashboard.</a:t>
            </a:r>
          </a:p>
        </p:txBody>
      </p:sp>
      <p:sp>
        <p:nvSpPr>
          <p:cNvPr id="8" name="TextBox 7"/>
          <p:cNvSpPr txBox="1"/>
          <p:nvPr/>
        </p:nvSpPr>
        <p:spPr>
          <a:xfrm>
            <a:off x="5303520" y="274320"/>
            <a:ext cx="8686800" cy="457200"/>
          </a:xfrm>
          <a:prstGeom prst="rect">
            <a:avLst/>
          </a:prstGeom>
          <a:noFill/>
        </p:spPr>
        <p:txBody>
          <a:bodyPr wrap="square">
            <a:spAutoFit/>
          </a:bodyPr>
          <a:lstStyle/>
          <a:p>
            <a:pPr algn="l"/>
            <a:r>
              <a:rPr sz="1100" b="1" i="0">
                <a:solidFill>
                  <a:srgbClr val="64748B"/>
                </a:solidFill>
                <a:latin typeface="Segoe UI"/>
              </a:rPr>
              <a:t>What you can do</a:t>
            </a:r>
          </a:p>
        </p:txBody>
      </p:sp>
      <p:sp>
        <p:nvSpPr>
          <p:cNvPr id="9" name="TextBox 8"/>
          <p:cNvSpPr txBox="1"/>
          <p:nvPr/>
        </p:nvSpPr>
        <p:spPr>
          <a:xfrm>
            <a:off x="5303520" y="777240"/>
            <a:ext cx="8869680" cy="3840480"/>
          </a:xfrm>
          <a:prstGeom prst="rect">
            <a:avLst/>
          </a:prstGeom>
          <a:noFill/>
        </p:spPr>
        <p:txBody>
          <a:bodyPr wrap="square">
            <a:spAutoFit/>
          </a:bodyPr>
          <a:lstStyle/>
          <a:p>
            <a:pPr>
              <a:spcBef>
                <a:spcPts val="400"/>
              </a:spcBef>
            </a:pPr>
            <a:r>
              <a:rPr sz="1400">
                <a:solidFill>
                  <a:srgbClr val="0F172A"/>
                </a:solidFill>
                <a:latin typeface="Segoe UI"/>
              </a:rPr>
              <a:t>●  Add, edit, and deactivate schools</a:t>
            </a:r>
          </a:p>
          <a:p>
            <a:pPr>
              <a:spcBef>
                <a:spcPts val="400"/>
              </a:spcBef>
            </a:pPr>
            <a:r>
              <a:rPr sz="1400">
                <a:solidFill>
                  <a:srgbClr val="0F172A"/>
                </a:solidFill>
                <a:latin typeface="Segoe UI"/>
              </a:rPr>
              <a:t>●  Manage all users across all schools</a:t>
            </a:r>
          </a:p>
          <a:p>
            <a:pPr>
              <a:spcBef>
                <a:spcPts val="400"/>
              </a:spcBef>
            </a:pPr>
            <a:r>
              <a:rPr sz="1400">
                <a:solidFill>
                  <a:srgbClr val="0F172A"/>
                </a:solidFill>
                <a:latin typeface="Segoe UI"/>
              </a:rPr>
              <a:t>●  Approve and manage platform consultants</a:t>
            </a:r>
          </a:p>
          <a:p>
            <a:pPr>
              <a:spcBef>
                <a:spcPts val="400"/>
              </a:spcBef>
            </a:pPr>
            <a:r>
              <a:rPr sz="1400">
                <a:solidFill>
                  <a:srgbClr val="0F172A"/>
                </a:solidFill>
                <a:latin typeface="Segoe UI"/>
              </a:rPr>
              <a:t>●  Approve and manage platform vendors</a:t>
            </a:r>
          </a:p>
          <a:p>
            <a:pPr>
              <a:spcBef>
                <a:spcPts val="400"/>
              </a:spcBef>
            </a:pPr>
            <a:r>
              <a:rPr sz="1400">
                <a:solidFill>
                  <a:srgbClr val="0F172A"/>
                </a:solidFill>
                <a:latin typeface="Segoe UI"/>
              </a:rPr>
              <a:t>●  Configure online class providers (Zoom/Meet credentials per school)</a:t>
            </a:r>
          </a:p>
          <a:p>
            <a:pPr>
              <a:spcBef>
                <a:spcPts val="400"/>
              </a:spcBef>
            </a:pPr>
            <a:r>
              <a:rPr sz="1400">
                <a:solidFill>
                  <a:srgbClr val="0F172A"/>
                </a:solidFill>
                <a:latin typeface="Segoe UI"/>
              </a:rPr>
              <a:t>●  Manage platform-wide courses</a:t>
            </a:r>
          </a:p>
          <a:p>
            <a:pPr>
              <a:spcBef>
                <a:spcPts val="400"/>
              </a:spcBef>
            </a:pPr>
            <a:r>
              <a:rPr sz="1400">
                <a:solidFill>
                  <a:srgbClr val="0F172A"/>
                </a:solidFill>
                <a:latin typeface="Segoe UI"/>
              </a:rPr>
              <a:t>●  View all schools' subscription plans</a:t>
            </a:r>
          </a:p>
          <a:p>
            <a:pPr>
              <a:spcBef>
                <a:spcPts val="400"/>
              </a:spcBef>
            </a:pPr>
            <a:r>
              <a:rPr sz="1400">
                <a:solidFill>
                  <a:srgbClr val="0F172A"/>
                </a:solidFill>
                <a:latin typeface="Segoe UI"/>
              </a:rPr>
              <a:t>●  Reset any user's password</a:t>
            </a:r>
          </a:p>
          <a:p>
            <a:pPr>
              <a:spcBef>
                <a:spcPts val="400"/>
              </a:spcBef>
            </a:pPr>
            <a:r>
              <a:rPr sz="1400">
                <a:solidFill>
                  <a:srgbClr val="0F172A"/>
                </a:solidFill>
                <a:latin typeface="Segoe UI"/>
              </a:rPr>
              <a:t>●  Access all school settings and module toggles</a:t>
            </a:r>
          </a:p>
        </p:txBody>
      </p:sp>
      <p:sp>
        <p:nvSpPr>
          <p:cNvPr id="10" name="Rectangle 9"/>
          <p:cNvSpPr/>
          <p:nvPr/>
        </p:nvSpPr>
        <p:spPr>
          <a:xfrm>
            <a:off x="5303520" y="4937760"/>
            <a:ext cx="896112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0" y="4937760"/>
            <a:ext cx="73152" cy="29260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4983480"/>
            <a:ext cx="8595360" cy="411480"/>
          </a:xfrm>
          <a:prstGeom prst="rect">
            <a:avLst/>
          </a:prstGeom>
          <a:noFill/>
        </p:spPr>
        <p:txBody>
          <a:bodyPr wrap="square">
            <a:spAutoFit/>
          </a:bodyPr>
          <a:lstStyle/>
          <a:p>
            <a:pPr algn="l"/>
            <a:r>
              <a:rPr sz="1200" b="1" i="0">
                <a:solidFill>
                  <a:srgbClr val="7C3AED"/>
                </a:solidFill>
                <a:latin typeface="Segoe UI"/>
              </a:rPr>
              <a:t>📌 Example – Platform Management</a:t>
            </a:r>
          </a:p>
        </p:txBody>
      </p:sp>
      <p:sp>
        <p:nvSpPr>
          <p:cNvPr id="13" name="TextBox 12"/>
          <p:cNvSpPr txBox="1"/>
          <p:nvPr/>
        </p:nvSpPr>
        <p:spPr>
          <a:xfrm>
            <a:off x="5486400" y="5440680"/>
            <a:ext cx="8595360" cy="2286000"/>
          </a:xfrm>
          <a:prstGeom prst="rect">
            <a:avLst/>
          </a:prstGeom>
          <a:noFill/>
        </p:spPr>
        <p:txBody>
          <a:bodyPr wrap="square">
            <a:spAutoFit/>
          </a:bodyPr>
          <a:lstStyle/>
          <a:p>
            <a:pPr algn="l"/>
            <a:r>
              <a:rPr sz="1300" b="0" i="0">
                <a:solidFill>
                  <a:srgbClr val="0F172A"/>
                </a:solidFill>
                <a:latin typeface="Segoe UI"/>
              </a:rPr>
              <a:t>Super Admin Aarav logs in and sees 24 schools, 12,000 students, 800 teachers on the platform.
He approves a new vendor: 'Kumar Books' to supply books to 5 schools.
He enables the Courses module for DPS (currently disabled).
He resets the password for a school admin who is locked out — done in 30 seconds.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00" cy="73152"/>
          </a:xfrm>
          <a:prstGeom prst="rect">
            <a:avLst/>
          </a:prstGeom>
          <a:solidFill>
            <a:srgbClr val="255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156448"/>
            <a:ext cx="1463040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2801600" cy="1280160"/>
          </a:xfrm>
          <a:prstGeom prst="rect">
            <a:avLst/>
          </a:prstGeom>
          <a:noFill/>
        </p:spPr>
        <p:txBody>
          <a:bodyPr wrap="square">
            <a:spAutoFit/>
          </a:bodyPr>
          <a:lstStyle/>
          <a:p>
            <a:pPr algn="ctr"/>
            <a:r>
              <a:rPr sz="6400" b="1" i="0">
                <a:solidFill>
                  <a:srgbClr val="FFFFFF"/>
                </a:solidFill>
                <a:latin typeface="Segoe UI"/>
              </a:rPr>
              <a:t>Yulaa 2.0</a:t>
            </a:r>
          </a:p>
        </p:txBody>
      </p:sp>
      <p:sp>
        <p:nvSpPr>
          <p:cNvPr id="6" name="TextBox 5"/>
          <p:cNvSpPr txBox="1"/>
          <p:nvPr/>
        </p:nvSpPr>
        <p:spPr>
          <a:xfrm>
            <a:off x="914400" y="2834640"/>
            <a:ext cx="12801600" cy="731520"/>
          </a:xfrm>
          <a:prstGeom prst="rect">
            <a:avLst/>
          </a:prstGeom>
          <a:noFill/>
        </p:spPr>
        <p:txBody>
          <a:bodyPr wrap="square">
            <a:spAutoFit/>
          </a:bodyPr>
          <a:lstStyle/>
          <a:p>
            <a:pPr algn="ctr"/>
            <a:r>
              <a:rPr sz="2600" b="0" i="1">
                <a:solidFill>
                  <a:srgbClr val="A0B4D0"/>
                </a:solidFill>
                <a:latin typeface="Segoe UI"/>
              </a:rPr>
              <a:t>One Platform. Every School Need.</a:t>
            </a:r>
          </a:p>
        </p:txBody>
      </p:sp>
      <p:sp>
        <p:nvSpPr>
          <p:cNvPr id="7" name="TextBox 6"/>
          <p:cNvSpPr txBox="1"/>
          <p:nvPr/>
        </p:nvSpPr>
        <p:spPr>
          <a:xfrm>
            <a:off x="2743200" y="3840480"/>
            <a:ext cx="9144000" cy="2926080"/>
          </a:xfrm>
          <a:prstGeom prst="rect">
            <a:avLst/>
          </a:prstGeom>
          <a:noFill/>
        </p:spPr>
        <p:txBody>
          <a:bodyPr wrap="square">
            <a:spAutoFit/>
          </a:bodyPr>
          <a:lstStyle/>
          <a:p>
            <a:pPr>
              <a:spcBef>
                <a:spcPts val="400"/>
              </a:spcBef>
            </a:pPr>
            <a:r>
              <a:rPr sz="1600">
                <a:solidFill>
                  <a:srgbClr val="C8D8F0"/>
                </a:solidFill>
                <a:latin typeface="Segoe UI"/>
              </a:rPr>
              <a:t>✦  25+ modules covering every aspect of school management</a:t>
            </a:r>
          </a:p>
          <a:p>
            <a:pPr>
              <a:spcBef>
                <a:spcPts val="400"/>
              </a:spcBef>
            </a:pPr>
            <a:r>
              <a:rPr sz="1600">
                <a:solidFill>
                  <a:srgbClr val="C8D8F0"/>
                </a:solidFill>
                <a:latin typeface="Segoe UI"/>
              </a:rPr>
              <a:t>✦  Multi-tenant SaaS — scale from 1 school to 1,000 schools</a:t>
            </a:r>
          </a:p>
          <a:p>
            <a:pPr>
              <a:spcBef>
                <a:spcPts val="400"/>
              </a:spcBef>
            </a:pPr>
            <a:r>
              <a:rPr sz="1600">
                <a:solidFill>
                  <a:srgbClr val="C8D8F0"/>
                </a:solidFill>
                <a:latin typeface="Segoe UI"/>
              </a:rPr>
              <a:t>✦  Web dashboard + Mobile App (iOS &amp; Android)</a:t>
            </a:r>
          </a:p>
          <a:p>
            <a:pPr>
              <a:spcBef>
                <a:spcPts val="400"/>
              </a:spcBef>
            </a:pPr>
            <a:r>
              <a:rPr sz="1600">
                <a:solidFill>
                  <a:srgbClr val="C8D8F0"/>
                </a:solidFill>
                <a:latin typeface="Segoe UI"/>
              </a:rPr>
              <a:t>✦  Role-based access: Admin · Teacher · Parent · Student · Vendor · Consultant</a:t>
            </a:r>
          </a:p>
          <a:p>
            <a:pPr>
              <a:spcBef>
                <a:spcPts val="400"/>
              </a:spcBef>
            </a:pPr>
            <a:r>
              <a:rPr sz="1600">
                <a:solidFill>
                  <a:srgbClr val="C8D8F0"/>
                </a:solidFill>
                <a:latin typeface="Segoe UI"/>
              </a:rPr>
              <a:t>✦  Built on Next.js 14, PostgreSQL, React Native, Turborepo</a:t>
            </a:r>
          </a:p>
        </p:txBody>
      </p:sp>
      <p:sp>
        <p:nvSpPr>
          <p:cNvPr id="8" name="TextBox 7"/>
          <p:cNvSpPr txBox="1"/>
          <p:nvPr/>
        </p:nvSpPr>
        <p:spPr>
          <a:xfrm>
            <a:off x="914400" y="7680960"/>
            <a:ext cx="12801600" cy="365760"/>
          </a:xfrm>
          <a:prstGeom prst="rect">
            <a:avLst/>
          </a:prstGeom>
          <a:noFill/>
        </p:spPr>
        <p:txBody>
          <a:bodyPr wrap="square">
            <a:spAutoFit/>
          </a:bodyPr>
          <a:lstStyle/>
          <a:p>
            <a:pPr algn="ctr"/>
            <a:r>
              <a:rPr sz="1100" b="0" i="0">
                <a:solidFill>
                  <a:srgbClr val="64748B"/>
                </a:solidFill>
                <a:latin typeface="Segoe UI"/>
              </a:rPr>
              <a:t>© 2025 Sequel One Solutions Pvt. Ltd.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